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we take two sex-specific MDD findings from Maitra 2023 and ask whether they are actually two ends of one cell-cell communication axis. Honest, leakage-controlled answer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Maitra found microglia drive the signal in females, a deep-layer excitatory neuron in males. They framed these as two separate sex-specific findings. Set up the tension: are they really unrelated?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If microglia (sender) signal to deep-layer neurons (receiver), then a DEG analysis looking at each cell type alone would see the microglial end in females and the neuronal end in males and call them separate. Explicitly modelling communication should expose one shared axis active in both sexes.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A: reproduce. B: infer communication and compress to 5 programs. C: the ML comparison. D: interpret. Everything checkpointed because runs were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 donors, balanced labels. The killer detail: the two sexes come from two separate GEO datasets, so sex and batch are the same variable. We cannot do cross-sex testing — it would confound biology with batch. This drove us to within-sex value-add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is lean because the authors already annotated. We sanity-check the DEG signal at nucleus level but flag pseudoreplication honestly, and use donor-level pseudobulk everywhere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 in four moves. Per-donor LIANA (per-condition would be degenerate — every donor in a group gets an identical vector). Arrange as a 4D tensor. The -log10 transform was a real bug we caught: without it the factors inverted and two linear models collapsed to chance. Then non-negative CP, rank 5 by elbow.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programs. Factors 2/3/5 are strongly sex/cohort-linked and diagnosis-null — the batch confound conveniently isolates itself there. Factor 4 is the only diagnosis-leaning, cohort-clean one, and it is exactly the microglia-&gt;ExN10_L46 axis we pre-specified. p=0.057 is a trend, not significance — say so. Note its top sender is actually Endothelial; we address that in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sets. The key conceptual point: communication is derived FROM expression, so combined-vs-expression is the real test. Rigorous nested CV with strict leakage rules — crucially we re-fit the tensor inside each fold so held-out donors never shape the factors. Stratify by sex x diagnosis so no fold crosses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table. Read it in two beats. One: communication-only — linear models reach 0.633 (real but weak), trees collapse to chance because 5 features are too few for them. Two: the decisive column — combined never CI-separates from expression. XGB is literally 0.714 to 0.714. The honest read: weak real signal, no demonstrable added value at this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first angle. Factor 4 is higher in MDD in both sexes — consistent direction, which is the shared-axis prediction. The effect is stronger in males (0.702, borderline p=0.05) than females. In the SHAP beeswarm, red (high Factor 4) sits on the positive/MDD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story split by sex. Factor 4 is a top contributor in both — this is the visual core of the shared-axis claim. If it were purely male-driven we would not expect it ranked highly in the female panel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decisive test, visually. Put all 1000 genes and 5 factors in one pool and let mRMR choose 15. It keeps genes — almost all microglial — and drops every factor, including Factor 4. So the factor is redundant FOR PREDICTION: a compressed shadow of microglial expression the raw genes already encode at full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angle, the strongest for the biology. When we re-estimate factors inside each fold (no leak at all) and score held-out donors, Factor 4 becomes the #1 communication factor and the held-out AUC matches our rigorous number. So the axis is not a leakage artefact — if anything it is clearer once the leak is removed. n=213 is 71 donors x 3 rounds, pooled held-out.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talk. Two cards, deliberately balanced. Left: the biology checks out — Factor 4 is real, reproducible, MDD-leaning in both sexes, robust to leakage control. Right: but as a predictive representation it adds nothing, because it is derived from the very expression it competes with. Land the one-liner: real but not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honest conclusion for a course project: a qualified yes. The axis is real and reproducible, but it is a shadow of microglial state, not an independent predictor. Limitations up front — small n is the binding constraint, sex=cohort prevents transfer testing, Factor 4 is vascular+immune as much as microglial, and the signal is trend-level. Thank you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you — happy to take questions. Likely Q&amp;A topics: why n=71 limits a GNN; why Factor 4 is vascular+immune not pure microglia; the -log10 bug and how we caught it; why combined never beats expression (communication derived from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563"/>
        </a:solidFill>
      </p:bgPr>
    </p:bg>
    <p:spTree>
      <p:nvGrpSpPr>
        <p:cNvPr id="1" name=""/>
        <p:cNvGrpSpPr/>
        <p:nvPr/>
      </p:nvGrpSpPr>
      <p:grpSpPr>
        <a:xfrm>
          <a:off x="0" y="0"/>
          <a:ext cx="0" cy="0"/>
          <a:chOff x="0" y="0"/>
          <a:chExt cx="0" cy="0"/>
        </a:xfrm>
      </p:grpSpPr>
      <p:sp>
        <p:nvSpPr>
          <p:cNvPr id="2" name="Shape 0"/>
          <p:cNvSpPr/>
          <p:nvPr/>
        </p:nvSpPr>
        <p:spPr>
          <a:xfrm>
            <a:off x="8778240" y="-1280160"/>
            <a:ext cx="4754880" cy="4754880"/>
          </a:xfrm>
          <a:prstGeom prst="ellipse">
            <a:avLst/>
          </a:prstGeom>
          <a:solidFill>
            <a:srgbClr val="0E7C86">
              <a:alpha val="22000"/>
            </a:srgbClr>
          </a:solidFill>
          <a:ln/>
        </p:spPr>
        <p:txBody>
          <a:bodyPr/>
          <a:p/>
        </p:txBody>
      </p:sp>
      <p:sp>
        <p:nvSpPr>
          <p:cNvPr id="3" name="Shape 1"/>
          <p:cNvSpPr/>
          <p:nvPr/>
        </p:nvSpPr>
        <p:spPr>
          <a:xfrm>
            <a:off x="10058400" y="1828800"/>
            <a:ext cx="3291840" cy="3291840"/>
          </a:xfrm>
          <a:prstGeom prst="ellipse">
            <a:avLst/>
          </a:prstGeom>
          <a:solidFill>
            <a:srgbClr val="C0392B">
              <a:alpha val="18000"/>
            </a:srgbClr>
          </a:solidFill>
          <a:ln/>
        </p:spPr>
        <p:txBody>
          <a:bodyPr/>
          <a:p/>
        </p:txBody>
      </p:sp>
      <p:sp>
        <p:nvSpPr>
          <p:cNvPr id="4" name="Text 2"/>
          <p:cNvSpPr/>
          <p:nvPr/>
        </p:nvSpPr>
        <p:spPr>
          <a:xfrm>
            <a:off x="548640" y="1371600"/>
            <a:ext cx="9144000" cy="365760"/>
          </a:xfrm>
          <a:prstGeom prst="rect">
            <a:avLst/>
          </a:prstGeom>
          <a:noFill/>
          <a:ln/>
        </p:spPr>
        <p:txBody>
          <a:bodyPr wrap="square" lIns="0" tIns="0" rIns="0" bIns="0" rtlCol="0" anchor="ctr"/>
          <a:lstStyle/>
          <a:p>
            <a:pPr indent="0" marL="0">
              <a:buNone/>
            </a:pPr>
            <a:r>
              <a:rPr lang="en-US" sz="1400" b="1" spc="300" kern="0" dirty="0">
                <a:solidFill>
                  <a:srgbClr val="5FB0B7"/>
                </a:solidFill>
                <a:latin typeface="Arial" pitchFamily="34" charset="0"/>
                <a:ea typeface="Arial" pitchFamily="34" charset="-122"/>
                <a:cs typeface="Arial" pitchFamily="34" charset="-120"/>
              </a:rPr>
              <a:t>MLCB TEAM PROJECT</a:t>
            </a:r>
            <a:endParaRPr lang="en-US" sz="1400" dirty="0"/>
          </a:p>
        </p:txBody>
      </p:sp>
      <p:sp>
        <p:nvSpPr>
          <p:cNvPr id="5" name="Text 3"/>
          <p:cNvSpPr/>
          <p:nvPr/>
        </p:nvSpPr>
        <p:spPr>
          <a:xfrm>
            <a:off x="548640" y="1828800"/>
            <a:ext cx="10515600" cy="173736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Communication-Aware Machine Learning</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for Major Depressive Disorder</a:t>
            </a:r>
            <a:endParaRPr lang="en-US" sz="4000" dirty="0"/>
          </a:p>
        </p:txBody>
      </p:sp>
      <p:sp>
        <p:nvSpPr>
          <p:cNvPr id="6" name="Text 4"/>
          <p:cNvSpPr/>
          <p:nvPr/>
        </p:nvSpPr>
        <p:spPr>
          <a:xfrm>
            <a:off x="548640" y="3703320"/>
            <a:ext cx="10058400" cy="640080"/>
          </a:xfrm>
          <a:prstGeom prst="rect">
            <a:avLst/>
          </a:prstGeom>
          <a:noFill/>
          <a:ln/>
        </p:spPr>
        <p:txBody>
          <a:bodyPr wrap="square" lIns="0" tIns="0" rIns="0" bIns="0" rtlCol="0" anchor="ctr"/>
          <a:lstStyle/>
          <a:p>
            <a:pPr indent="0" marL="0">
              <a:buNone/>
            </a:pPr>
            <a:r>
              <a:rPr lang="en-US" sz="1700" dirty="0">
                <a:solidFill>
                  <a:srgbClr val="CFE3E5"/>
                </a:solidFill>
                <a:latin typeface="Arial" pitchFamily="34" charset="0"/>
                <a:ea typeface="Arial" pitchFamily="34" charset="-122"/>
                <a:cs typeface="Arial" pitchFamily="34" charset="-120"/>
              </a:rPr>
              <a:t>Testing a microglia </a:t>
            </a:r>
            <a:pPr indent="0" marL="0">
              <a:buNone/>
            </a:pPr>
            <a:r>
              <a:rPr lang="en-US" sz="1700" dirty="0">
                <a:solidFill>
                  <a:srgbClr val="5FB0B7"/>
                </a:solidFill>
                <a:latin typeface="Arial" pitchFamily="34" charset="0"/>
                <a:ea typeface="Arial" pitchFamily="34" charset="-122"/>
                <a:cs typeface="Arial" pitchFamily="34" charset="-120"/>
              </a:rPr>
              <a:t>→</a:t>
            </a:r>
            <a:pPr indent="0" marL="0">
              <a:buNone/>
            </a:pPr>
            <a:r>
              <a:rPr lang="en-US" sz="1700" dirty="0">
                <a:solidFill>
                  <a:srgbClr val="CFE3E5"/>
                </a:solidFill>
                <a:latin typeface="Arial" pitchFamily="34" charset="0"/>
                <a:ea typeface="Arial" pitchFamily="34" charset="-122"/>
                <a:cs typeface="Arial" pitchFamily="34" charset="-120"/>
              </a:rPr>
              <a:t> neuron communication axis from single-nucleus RNA-seq of the human prefrontal cortex</a:t>
            </a:r>
            <a:endParaRPr lang="en-US" sz="1700" dirty="0"/>
          </a:p>
        </p:txBody>
      </p:sp>
      <p:sp>
        <p:nvSpPr>
          <p:cNvPr id="7" name="Text 5"/>
          <p:cNvSpPr/>
          <p:nvPr/>
        </p:nvSpPr>
        <p:spPr>
          <a:xfrm>
            <a:off x="548640" y="4846320"/>
            <a:ext cx="10058400" cy="320040"/>
          </a:xfrm>
          <a:prstGeom prst="rect">
            <a:avLst/>
          </a:prstGeom>
          <a:noFill/>
          <a:ln/>
        </p:spPr>
        <p:txBody>
          <a:bodyPr wrap="square" lIns="0" tIns="0" rIns="0" bIns="0" rtlCol="0" anchor="ctr"/>
          <a:lstStyle/>
          <a:p>
            <a:pPr indent="0" marL="0">
              <a:buNone/>
            </a:pPr>
            <a:r>
              <a:rPr lang="en-US" sz="1300" i="1" dirty="0">
                <a:solidFill>
                  <a:srgbClr val="5FB0B7"/>
                </a:solidFill>
                <a:latin typeface="Arial" pitchFamily="34" charset="0"/>
                <a:ea typeface="Arial" pitchFamily="34" charset="-122"/>
                <a:cs typeface="Arial" pitchFamily="34" charset="-120"/>
              </a:rPr>
              <a:t>Re-analysis of Maitra et al. (2023), Nature Communications 14, 2912</a:t>
            </a:r>
            <a:endParaRPr lang="en-US" sz="1300" dirty="0"/>
          </a:p>
        </p:txBody>
      </p:sp>
      <p:sp>
        <p:nvSpPr>
          <p:cNvPr id="8" name="Text 6"/>
          <p:cNvSpPr/>
          <p:nvPr/>
        </p:nvSpPr>
        <p:spPr>
          <a:xfrm>
            <a:off x="548640" y="5212080"/>
            <a:ext cx="10058400" cy="320040"/>
          </a:xfrm>
          <a:prstGeom prst="rect">
            <a:avLst/>
          </a:prstGeom>
          <a:noFill/>
          <a:ln/>
        </p:spPr>
        <p:txBody>
          <a:bodyPr wrap="square" lIns="0" tIns="0" rIns="0" bIns="0" rtlCol="0" anchor="ctr"/>
          <a:lstStyle/>
          <a:p>
            <a:pPr indent="0" marL="0">
              <a:buNone/>
            </a:pPr>
            <a:r>
              <a:rPr lang="en-US" sz="1300" dirty="0">
                <a:solidFill>
                  <a:srgbClr val="9FC4C8"/>
                </a:solidFill>
                <a:latin typeface="Arial" pitchFamily="34" charset="0"/>
                <a:ea typeface="Arial" pitchFamily="34" charset="-122"/>
                <a:cs typeface="Arial" pitchFamily="34" charset="-120"/>
              </a:rPr>
              <a:t>National and Kapodistrian University of Athens  ·  MSc in Data Science and Information Technologies  ·  Supervisor: Prof. E. Manolakos  ·  June 2026</a:t>
            </a:r>
            <a:endParaRPr lang="en-US" sz="1300" dirty="0"/>
          </a:p>
        </p:txBody>
      </p:sp>
      <p:sp>
        <p:nvSpPr>
          <p:cNvPr id="90" name="Text Authors"/>
          <p:cNvSpPr/>
          <p:nvPr/>
        </p:nvSpPr>
        <p:spPr>
          <a:xfrm>
            <a:off x="548640" y="4416552"/>
            <a:ext cx="10058400" cy="365760"/>
          </a:xfrm>
          <a:prstGeom prst="rect">
            <a:avLst/>
          </a:prstGeom>
          <a:noFill/>
          <a:ln/>
        </p:spPr>
        <p:txBody>
          <a:bodyPr wrap="square" lIns="0" tIns="0" rIns="0" bIns="0" rtlCol="0" anchor="ctr"/>
          <a:lstStyle/>
          <a:p>
            <a:pPr indent="0" marL="0">
              <a:buNone/>
            </a:pPr>
            <a:r>
              <a:rPr lang="en-US" sz="1500" dirty="0" b="1">
                <a:solidFill>
                  <a:srgbClr val="FFFFFF"/>
                </a:solidFill>
                <a:latin typeface="Arial" pitchFamily="34" charset="0"/>
                <a:ea typeface="Arial" pitchFamily="34" charset="-122"/>
                <a:cs typeface="Arial" pitchFamily="34" charset="-120"/>
              </a:rPr>
              <a:t>Giorgos Boulogeorgos  ·  Andreas Mici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BACKGROUND</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Two cell types, two sexes — reported separately</a:t>
            </a:r>
            <a:endParaRPr lang="en-US" sz="3000" dirty="0"/>
          </a:p>
        </p:txBody>
      </p:sp>
      <p:sp>
        <p:nvSpPr>
          <p:cNvPr id="4" name="Text 2"/>
          <p:cNvSpPr/>
          <p:nvPr/>
        </p:nvSpPr>
        <p:spPr>
          <a:xfrm>
            <a:off x="548640" y="1691640"/>
            <a:ext cx="5760720" cy="1463040"/>
          </a:xfrm>
          <a:prstGeom prst="rect">
            <a:avLst/>
          </a:prstGeom>
          <a:noFill/>
          <a:ln/>
        </p:spPr>
        <p:txBody>
          <a:bodyPr wrap="square" lIns="0" tIns="0" rIns="0" bIns="0" rtlCol="0" anchor="t"/>
          <a:lstStyle/>
          <a:p>
            <a:pPr indent="0" marL="0">
              <a:lnSpc>
                <a:spcPct val="112000"/>
              </a:lnSpc>
              <a:buNone/>
            </a:pPr>
            <a:r>
              <a:rPr lang="en-US" sz="1600" b="1" dirty="0">
                <a:solidFill>
                  <a:srgbClr val="12343B"/>
                </a:solidFill>
                <a:latin typeface="Arial" pitchFamily="34" charset="0"/>
                <a:ea typeface="Arial" pitchFamily="34" charset="-122"/>
                <a:cs typeface="Arial" pitchFamily="34" charset="-120"/>
              </a:rPr>
              <a:t>Major depressive disorder (MDD)</a:t>
            </a:r>
            <a:pPr indent="0" marL="0">
              <a:lnSpc>
                <a:spcPct val="112000"/>
              </a:lnSpc>
              <a:buNone/>
            </a:pPr>
            <a:r>
              <a:rPr lang="en-US" sz="1600" dirty="0">
                <a:solidFill>
                  <a:srgbClr val="12343B"/>
                </a:solidFill>
                <a:latin typeface="Arial" pitchFamily="34" charset="0"/>
                <a:ea typeface="Arial" pitchFamily="34" charset="-122"/>
                <a:cs typeface="Arial" pitchFamily="34" charset="-120"/>
              </a:rPr>
              <a:t> has a poorly resolved molecular substrate in the human brain. Single-nucleus RNA-seq of the dorsolateral prefrontal cortex lets us ask </a:t>
            </a:r>
            <a:pPr indent="0" marL="0">
              <a:lnSpc>
                <a:spcPct val="112000"/>
              </a:lnSpc>
              <a:buNone/>
            </a:pPr>
            <a:r>
              <a:rPr lang="en-US" sz="1600" i="1" dirty="0">
                <a:solidFill>
                  <a:srgbClr val="12343B"/>
                </a:solidFill>
                <a:latin typeface="Arial" pitchFamily="34" charset="0"/>
                <a:ea typeface="Arial" pitchFamily="34" charset="-122"/>
                <a:cs typeface="Arial" pitchFamily="34" charset="-120"/>
              </a:rPr>
              <a:t>which cell types</a:t>
            </a:r>
            <a:pPr indent="0" marL="0">
              <a:lnSpc>
                <a:spcPct val="112000"/>
              </a:lnSpc>
              <a:buNone/>
            </a:pPr>
            <a:r>
              <a:rPr lang="en-US" sz="1600" dirty="0">
                <a:solidFill>
                  <a:srgbClr val="12343B"/>
                </a:solidFill>
                <a:latin typeface="Arial" pitchFamily="34" charset="0"/>
                <a:ea typeface="Arial" pitchFamily="34" charset="-122"/>
                <a:cs typeface="Arial" pitchFamily="34" charset="-120"/>
              </a:rPr>
              <a:t> carry the disease signal.</a:t>
            </a:r>
            <a:endParaRPr lang="en-US" sz="1600" dirty="0"/>
          </a:p>
        </p:txBody>
      </p:sp>
      <p:sp>
        <p:nvSpPr>
          <p:cNvPr id="5" name="Text 3"/>
          <p:cNvSpPr/>
          <p:nvPr/>
        </p:nvSpPr>
        <p:spPr>
          <a:xfrm>
            <a:off x="548640" y="3108960"/>
            <a:ext cx="5760720" cy="822960"/>
          </a:xfrm>
          <a:prstGeom prst="rect">
            <a:avLst/>
          </a:prstGeom>
          <a:noFill/>
          <a:ln/>
        </p:spPr>
        <p:txBody>
          <a:bodyPr wrap="square" lIns="0" tIns="0" rIns="0" bIns="0" rtlCol="0" anchor="t"/>
          <a:lstStyle/>
          <a:p>
            <a:pPr indent="0" marL="0">
              <a:lnSpc>
                <a:spcPct val="112000"/>
              </a:lnSpc>
              <a:buNone/>
            </a:pPr>
            <a:r>
              <a:rPr lang="en-US" sz="1600" b="1" dirty="0">
                <a:solidFill>
                  <a:srgbClr val="12343B"/>
                </a:solidFill>
                <a:latin typeface="Arial" pitchFamily="34" charset="0"/>
                <a:ea typeface="Arial" pitchFamily="34" charset="-122"/>
                <a:cs typeface="Arial" pitchFamily="34" charset="-120"/>
              </a:rPr>
              <a:t>Maitra et al. (2023) </a:t>
            </a:r>
            <a:pPr indent="0" marL="0">
              <a:lnSpc>
                <a:spcPct val="112000"/>
              </a:lnSpc>
              <a:buNone/>
            </a:pPr>
            <a:r>
              <a:rPr lang="en-US" sz="1600" dirty="0">
                <a:solidFill>
                  <a:srgbClr val="12343B"/>
                </a:solidFill>
                <a:latin typeface="Arial" pitchFamily="34" charset="0"/>
                <a:ea typeface="Arial" pitchFamily="34" charset="-122"/>
                <a:cs typeface="Arial" pitchFamily="34" charset="-120"/>
              </a:rPr>
              <a:t>profiled ~160,000 nuclei from 71 donors and found the strongest case/control differences in:</a:t>
            </a:r>
            <a:endParaRPr lang="en-US" sz="1600" dirty="0"/>
          </a:p>
        </p:txBody>
      </p:sp>
      <p:sp>
        <p:nvSpPr>
          <p:cNvPr id="6" name="Shape 4"/>
          <p:cNvSpPr/>
          <p:nvPr/>
        </p:nvSpPr>
        <p:spPr>
          <a:xfrm>
            <a:off x="6858000" y="1737360"/>
            <a:ext cx="4754880" cy="1691640"/>
          </a:xfrm>
          <a:prstGeom prst="roundRect">
            <a:avLst>
              <a:gd name="adj" fmla="val 4324"/>
            </a:avLst>
          </a:prstGeom>
          <a:solidFill>
            <a:srgbClr val="EEF4F5"/>
          </a:solidFill>
          <a:ln/>
          <a:effectLst>
            <a:outerShdw sx="100000" sy="100000" kx="0" ky="0" algn="bl" rotWithShape="0" blurRad="88900" dist="38100" dir="5400000">
              <a:srgbClr val="000000">
                <a:alpha val="13000"/>
              </a:srgbClr>
            </a:outerShdw>
          </a:effectLst>
        </p:spPr>
      </p:sp>
      <p:sp>
        <p:nvSpPr>
          <p:cNvPr id="7" name="Text 5"/>
          <p:cNvSpPr/>
          <p:nvPr/>
        </p:nvSpPr>
        <p:spPr>
          <a:xfrm>
            <a:off x="7178040" y="2011680"/>
            <a:ext cx="4114800" cy="1188720"/>
          </a:xfrm>
          <a:prstGeom prst="rect">
            <a:avLst/>
          </a:prstGeom>
          <a:noFill/>
          <a:ln/>
        </p:spPr>
        <p:txBody>
          <a:bodyPr wrap="square" lIns="0" tIns="0" rIns="0" bIns="0" rtlCol="0" anchor="ctr"/>
          <a:lstStyle/>
          <a:p>
            <a:pPr indent="0" marL="0">
              <a:lnSpc>
                <a:spcPct val="110000"/>
              </a:lnSpc>
              <a:buNone/>
            </a:pPr>
            <a:r>
              <a:rPr lang="en-US" sz="1300" b="1" spc="200" kern="0" dirty="0">
                <a:solidFill>
                  <a:srgbClr val="0E7C86"/>
                </a:solidFill>
                <a:latin typeface="Arial" pitchFamily="34" charset="0"/>
                <a:ea typeface="Arial" pitchFamily="34" charset="-122"/>
                <a:cs typeface="Arial" pitchFamily="34" charset="-120"/>
              </a:rPr>
              <a:t>FEMALES
</a:t>
            </a:r>
            <a:pPr indent="0" marL="0">
              <a:lnSpc>
                <a:spcPct val="110000"/>
              </a:lnSpc>
              <a:buNone/>
            </a:pPr>
            <a:r>
              <a:rPr lang="en-US" sz="2000" b="1" dirty="0">
                <a:solidFill>
                  <a:srgbClr val="12343B"/>
                </a:solidFill>
                <a:latin typeface="Arial" pitchFamily="34" charset="0"/>
                <a:ea typeface="Arial" pitchFamily="34" charset="-122"/>
                <a:cs typeface="Arial" pitchFamily="34" charset="-120"/>
              </a:rPr>
              <a:t>Microglia  </a:t>
            </a:r>
            <a:pPr indent="0" marL="0">
              <a:lnSpc>
                <a:spcPct val="110000"/>
              </a:lnSpc>
              <a:buNone/>
            </a:pPr>
            <a:r>
              <a:rPr lang="en-US" sz="1500" dirty="0">
                <a:solidFill>
                  <a:srgbClr val="5A6B72"/>
                </a:solidFill>
                <a:latin typeface="Arial" pitchFamily="34" charset="0"/>
                <a:ea typeface="Arial" pitchFamily="34" charset="-122"/>
                <a:cs typeface="Arial" pitchFamily="34" charset="-120"/>
              </a:rPr>
              <a:t>(cluster Mic1)</a:t>
            </a:r>
            <a:endParaRPr lang="en-US" sz="1300" dirty="0"/>
          </a:p>
        </p:txBody>
      </p:sp>
      <p:sp>
        <p:nvSpPr>
          <p:cNvPr id="8" name="Shape 6"/>
          <p:cNvSpPr/>
          <p:nvPr/>
        </p:nvSpPr>
        <p:spPr>
          <a:xfrm>
            <a:off x="6858000" y="3611880"/>
            <a:ext cx="4754880" cy="1691640"/>
          </a:xfrm>
          <a:prstGeom prst="roundRect">
            <a:avLst>
              <a:gd name="adj" fmla="val 4324"/>
            </a:avLst>
          </a:prstGeom>
          <a:solidFill>
            <a:srgbClr val="EEF4F5"/>
          </a:solidFill>
          <a:ln/>
          <a:effectLst>
            <a:outerShdw sx="100000" sy="100000" kx="0" ky="0" algn="bl" rotWithShape="0" blurRad="88900" dist="38100" dir="5400000">
              <a:srgbClr val="000000">
                <a:alpha val="13000"/>
              </a:srgbClr>
            </a:outerShdw>
          </a:effectLst>
        </p:spPr>
      </p:sp>
      <p:sp>
        <p:nvSpPr>
          <p:cNvPr id="9" name="Text 7"/>
          <p:cNvSpPr/>
          <p:nvPr/>
        </p:nvSpPr>
        <p:spPr>
          <a:xfrm>
            <a:off x="7178040" y="3886200"/>
            <a:ext cx="4114800" cy="1188720"/>
          </a:xfrm>
          <a:prstGeom prst="rect">
            <a:avLst/>
          </a:prstGeom>
          <a:noFill/>
          <a:ln/>
        </p:spPr>
        <p:txBody>
          <a:bodyPr wrap="square" lIns="0" tIns="0" rIns="0" bIns="0" rtlCol="0" anchor="ctr"/>
          <a:lstStyle/>
          <a:p>
            <a:pPr indent="0" marL="0">
              <a:lnSpc>
                <a:spcPct val="110000"/>
              </a:lnSpc>
              <a:buNone/>
            </a:pPr>
            <a:r>
              <a:rPr lang="en-US" sz="1300" b="1" spc="200" kern="0" dirty="0">
                <a:solidFill>
                  <a:srgbClr val="C0392B"/>
                </a:solidFill>
                <a:latin typeface="Arial" pitchFamily="34" charset="0"/>
                <a:ea typeface="Arial" pitchFamily="34" charset="-122"/>
                <a:cs typeface="Arial" pitchFamily="34" charset="-120"/>
              </a:rPr>
              <a:t>MALES
</a:t>
            </a:r>
            <a:pPr indent="0" marL="0">
              <a:lnSpc>
                <a:spcPct val="110000"/>
              </a:lnSpc>
              <a:buNone/>
            </a:pPr>
            <a:r>
              <a:rPr lang="en-US" sz="2000" b="1" dirty="0">
                <a:solidFill>
                  <a:srgbClr val="12343B"/>
                </a:solidFill>
                <a:latin typeface="Arial" pitchFamily="34" charset="0"/>
                <a:ea typeface="Arial" pitchFamily="34" charset="-122"/>
                <a:cs typeface="Arial" pitchFamily="34" charset="-120"/>
              </a:rPr>
              <a:t>Deep-layer neuron  </a:t>
            </a:r>
            <a:pPr indent="0" marL="0">
              <a:lnSpc>
                <a:spcPct val="110000"/>
              </a:lnSpc>
              <a:buNone/>
            </a:pPr>
            <a:r>
              <a:rPr lang="en-US" sz="1500" dirty="0">
                <a:solidFill>
                  <a:srgbClr val="5A6B72"/>
                </a:solidFill>
                <a:latin typeface="Arial" pitchFamily="34" charset="0"/>
                <a:ea typeface="Arial" pitchFamily="34" charset="-122"/>
                <a:cs typeface="Arial" pitchFamily="34" charset="-120"/>
              </a:rPr>
              <a:t>(ExN10_L46)</a:t>
            </a:r>
            <a:endParaRPr lang="en-US" sz="1300" dirty="0"/>
          </a:p>
        </p:txBody>
      </p:sp>
      <p:sp>
        <p:nvSpPr>
          <p:cNvPr id="10" name="Text 8"/>
          <p:cNvSpPr/>
          <p:nvPr/>
        </p:nvSpPr>
        <p:spPr>
          <a:xfrm>
            <a:off x="548640" y="5669280"/>
            <a:ext cx="10058400" cy="365760"/>
          </a:xfrm>
          <a:prstGeom prst="rect">
            <a:avLst/>
          </a:prstGeom>
          <a:noFill/>
          <a:ln/>
        </p:spPr>
        <p:txBody>
          <a:bodyPr wrap="square" lIns="0" tIns="0" rIns="0" bIns="0" rtlCol="0" anchor="ctr"/>
          <a:lstStyle/>
          <a:p>
            <a:pPr indent="0" marL="0">
              <a:buNone/>
            </a:pPr>
            <a:r>
              <a:rPr lang="en-US" sz="1500" i="1" dirty="0">
                <a:solidFill>
                  <a:srgbClr val="5A6B72"/>
                </a:solidFill>
                <a:latin typeface="Arial" pitchFamily="34" charset="0"/>
                <a:ea typeface="Arial" pitchFamily="34" charset="-122"/>
                <a:cs typeface="Arial" pitchFamily="34" charset="-120"/>
              </a:rPr>
              <a:t>Presented as two distinct, sex-specific results.</a:t>
            </a:r>
            <a:endParaRPr lang="en-US" sz="1500" dirty="0"/>
          </a:p>
        </p:txBody>
      </p:sp>
      <p:sp>
        <p:nvSpPr>
          <p:cNvPr id="11" name="Text 9"/>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5563"/>
        </a:solidFill>
      </p:bgPr>
    </p:bg>
    <p:spTree>
      <p:nvGrpSpPr>
        <p:cNvPr id="1" name=""/>
        <p:cNvGrpSpPr/>
        <p:nvPr/>
      </p:nvGrpSpPr>
      <p:grpSpPr>
        <a:xfrm>
          <a:off x="0" y="0"/>
          <a:ext cx="0" cy="0"/>
          <a:chOff x="0" y="0"/>
          <a:chExt cx="0" cy="0"/>
        </a:xfrm>
      </p:grpSpPr>
      <p:sp>
        <p:nvSpPr>
          <p:cNvPr id="2" name="Text 0"/>
          <p:cNvSpPr/>
          <p:nvPr/>
        </p:nvSpPr>
        <p:spPr>
          <a:xfrm>
            <a:off x="548640" y="640080"/>
            <a:ext cx="10058400" cy="320040"/>
          </a:xfrm>
          <a:prstGeom prst="rect">
            <a:avLst/>
          </a:prstGeom>
          <a:noFill/>
          <a:ln/>
        </p:spPr>
        <p:txBody>
          <a:bodyPr wrap="square" lIns="0" tIns="0" rIns="0" bIns="0" rtlCol="0" anchor="ctr"/>
          <a:lstStyle/>
          <a:p>
            <a:pPr indent="0" marL="0">
              <a:buNone/>
            </a:pPr>
            <a:r>
              <a:rPr lang="en-US" sz="1300" b="1" spc="300" kern="0" dirty="0">
                <a:solidFill>
                  <a:srgbClr val="5FB0B7"/>
                </a:solidFill>
                <a:latin typeface="Arial" pitchFamily="34" charset="0"/>
                <a:ea typeface="Arial" pitchFamily="34" charset="-122"/>
                <a:cs typeface="Arial" pitchFamily="34" charset="-120"/>
              </a:rPr>
              <a:t>OUR HYPOTHESIS</a:t>
            </a:r>
            <a:endParaRPr lang="en-US" sz="1300" dirty="0"/>
          </a:p>
        </p:txBody>
      </p:sp>
      <p:sp>
        <p:nvSpPr>
          <p:cNvPr id="3" name="Text 1"/>
          <p:cNvSpPr/>
          <p:nvPr/>
        </p:nvSpPr>
        <p:spPr>
          <a:xfrm>
            <a:off x="548640" y="9601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Not two findings — one axis</a:t>
            </a:r>
            <a:endParaRPr lang="en-US" sz="3200" dirty="0"/>
          </a:p>
        </p:txBody>
      </p:sp>
      <p:sp>
        <p:nvSpPr>
          <p:cNvPr id="4" name="Shape 2"/>
          <p:cNvSpPr/>
          <p:nvPr/>
        </p:nvSpPr>
        <p:spPr>
          <a:xfrm>
            <a:off x="1554480" y="3108960"/>
            <a:ext cx="2468880" cy="2468880"/>
          </a:xfrm>
          <a:prstGeom prst="ellipse">
            <a:avLst/>
          </a:prstGeom>
          <a:solidFill>
            <a:srgbClr val="0E7C86"/>
          </a:solidFill>
          <a:ln w="25400">
            <a:solidFill>
              <a:srgbClr val="FFFFFF"/>
            </a:solidFill>
            <a:prstDash val="solid"/>
          </a:ln>
        </p:spPr>
      </p:sp>
      <p:sp>
        <p:nvSpPr>
          <p:cNvPr id="5" name="Text 3"/>
          <p:cNvSpPr/>
          <p:nvPr/>
        </p:nvSpPr>
        <p:spPr>
          <a:xfrm>
            <a:off x="1691640" y="3108960"/>
            <a:ext cx="2194560" cy="24688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Microglia
</a:t>
            </a:r>
            <a:pPr algn="ctr" indent="0" marL="0">
              <a:buNone/>
            </a:pPr>
            <a:r>
              <a:rPr lang="en-US" sz="1300" i="1" dirty="0">
                <a:solidFill>
                  <a:srgbClr val="CFE3E5"/>
                </a:solidFill>
                <a:latin typeface="Arial" pitchFamily="34" charset="0"/>
                <a:ea typeface="Arial" pitchFamily="34" charset="-122"/>
                <a:cs typeface="Arial" pitchFamily="34" charset="-120"/>
              </a:rPr>
              <a:t>sender</a:t>
            </a:r>
            <a:endParaRPr lang="en-US" sz="1800" dirty="0"/>
          </a:p>
        </p:txBody>
      </p:sp>
      <p:sp>
        <p:nvSpPr>
          <p:cNvPr id="6" name="Shape 4"/>
          <p:cNvSpPr/>
          <p:nvPr/>
        </p:nvSpPr>
        <p:spPr>
          <a:xfrm>
            <a:off x="8138160" y="3108960"/>
            <a:ext cx="2468880" cy="2468880"/>
          </a:xfrm>
          <a:prstGeom prst="ellipse">
            <a:avLst/>
          </a:prstGeom>
          <a:solidFill>
            <a:srgbClr val="C0392B"/>
          </a:solidFill>
          <a:ln w="25400">
            <a:solidFill>
              <a:srgbClr val="FFFFFF"/>
            </a:solidFill>
            <a:prstDash val="solid"/>
          </a:ln>
        </p:spPr>
      </p:sp>
      <p:sp>
        <p:nvSpPr>
          <p:cNvPr id="7" name="Text 5"/>
          <p:cNvSpPr/>
          <p:nvPr/>
        </p:nvSpPr>
        <p:spPr>
          <a:xfrm>
            <a:off x="8275320" y="3108960"/>
            <a:ext cx="2194560" cy="2468880"/>
          </a:xfrm>
          <a:prstGeom prst="rect">
            <a:avLst/>
          </a:prstGeom>
          <a:noFill/>
          <a:ln/>
        </p:spPr>
        <p:txBody>
          <a:bodyPr wrap="square" lIns="0" tIns="0" rIns="0" bIns="0" rtlCol="0" anchor="ctr"/>
          <a:lstStyle/>
          <a:p>
            <a:pPr algn="ctr" indent="0" marL="0">
              <a:lnSpc>
                <a:spcPct val="105000"/>
              </a:lnSpc>
              <a:buNone/>
            </a:pPr>
            <a:r>
              <a:rPr lang="en-US" sz="1700" b="1" dirty="0">
                <a:solidFill>
                  <a:srgbClr val="FFFFFF"/>
                </a:solidFill>
                <a:latin typeface="Arial" pitchFamily="34" charset="0"/>
                <a:ea typeface="Arial" pitchFamily="34" charset="-122"/>
                <a:cs typeface="Arial" pitchFamily="34" charset="-120"/>
              </a:rPr>
              <a:t>ExN10_L46
</a:t>
            </a:r>
            <a:pPr algn="ctr" indent="0" marL="0">
              <a:lnSpc>
                <a:spcPct val="105000"/>
              </a:lnSpc>
              <a:buNone/>
            </a:pPr>
            <a:r>
              <a:rPr lang="en-US" sz="1300" i="1" dirty="0">
                <a:solidFill>
                  <a:srgbClr val="F2D5D0"/>
                </a:solidFill>
                <a:latin typeface="Arial" pitchFamily="34" charset="0"/>
                <a:ea typeface="Arial" pitchFamily="34" charset="-122"/>
                <a:cs typeface="Arial" pitchFamily="34" charset="-120"/>
              </a:rPr>
              <a:t>deep-layer neuron</a:t>
            </a:r>
            <a:endParaRPr lang="en-US" sz="1700" dirty="0"/>
          </a:p>
          <a:p>
            <a:pPr algn="ctr" indent="0" marL="0">
              <a:lnSpc>
                <a:spcPct val="105000"/>
              </a:lnSpc>
              <a:buNone/>
            </a:pPr>
            <a:r>
              <a:rPr lang="en-US" sz="1300" i="1" dirty="0">
                <a:solidFill>
                  <a:srgbClr val="F2D5D0"/>
                </a:solidFill>
                <a:latin typeface="Arial" pitchFamily="34" charset="0"/>
                <a:ea typeface="Arial" pitchFamily="34" charset="-122"/>
                <a:cs typeface="Arial" pitchFamily="34" charset="-120"/>
              </a:rPr>
              <a:t>receiver</a:t>
            </a:r>
            <a:endParaRPr lang="en-US" sz="1700" dirty="0"/>
          </a:p>
        </p:txBody>
      </p:sp>
      <p:sp>
        <p:nvSpPr>
          <p:cNvPr id="8" name="Shape 6"/>
          <p:cNvSpPr/>
          <p:nvPr/>
        </p:nvSpPr>
        <p:spPr>
          <a:xfrm>
            <a:off x="4206240" y="4343400"/>
            <a:ext cx="3749040" cy="0"/>
          </a:xfrm>
          <a:prstGeom prst="line">
            <a:avLst/>
          </a:prstGeom>
          <a:noFill/>
          <a:ln w="50800">
            <a:solidFill>
              <a:srgbClr val="5FB0B7"/>
            </a:solidFill>
            <a:prstDash val="solid"/>
            <a:tailEnd type="triangle"/>
          </a:ln>
        </p:spPr>
      </p:sp>
      <p:sp>
        <p:nvSpPr>
          <p:cNvPr id="9" name="Text 7"/>
          <p:cNvSpPr/>
          <p:nvPr/>
        </p:nvSpPr>
        <p:spPr>
          <a:xfrm>
            <a:off x="4114800" y="3657600"/>
            <a:ext cx="3931920" cy="365760"/>
          </a:xfrm>
          <a:prstGeom prst="rect">
            <a:avLst/>
          </a:prstGeom>
          <a:noFill/>
          <a:ln/>
        </p:spPr>
        <p:txBody>
          <a:bodyPr wrap="square" lIns="0" tIns="0" rIns="0" bIns="0" rtlCol="0" anchor="ctr"/>
          <a:lstStyle/>
          <a:p>
            <a:pPr algn="ctr" indent="0" marL="0">
              <a:buNone/>
            </a:pPr>
            <a:r>
              <a:rPr lang="en-US" sz="1300" i="1" dirty="0">
                <a:solidFill>
                  <a:srgbClr val="CFE3E5"/>
                </a:solidFill>
                <a:latin typeface="Arial" pitchFamily="34" charset="0"/>
                <a:ea typeface="Arial" pitchFamily="34" charset="-122"/>
                <a:cs typeface="Arial" pitchFamily="34" charset="-120"/>
              </a:rPr>
              <a:t>ligand → receptor signalling</a:t>
            </a:r>
            <a:endParaRPr lang="en-US" sz="1300" dirty="0"/>
          </a:p>
        </p:txBody>
      </p:sp>
      <p:sp>
        <p:nvSpPr>
          <p:cNvPr id="10" name="Text 8"/>
          <p:cNvSpPr/>
          <p:nvPr/>
        </p:nvSpPr>
        <p:spPr>
          <a:xfrm>
            <a:off x="1554480" y="5806440"/>
            <a:ext cx="9144000" cy="777240"/>
          </a:xfrm>
          <a:prstGeom prst="rect">
            <a:avLst/>
          </a:prstGeom>
          <a:noFill/>
          <a:ln/>
        </p:spPr>
        <p:txBody>
          <a:bodyPr wrap="square" lIns="0" tIns="0" rIns="0" bIns="0" rtlCol="0" anchor="ctr"/>
          <a:lstStyle/>
          <a:p>
            <a:pPr algn="ctr" indent="0" marL="0">
              <a:lnSpc>
                <a:spcPct val="110000"/>
              </a:lnSpc>
              <a:buNone/>
            </a:pPr>
            <a:r>
              <a:rPr lang="en-US" sz="1550" dirty="0">
                <a:solidFill>
                  <a:srgbClr val="DCEBEC"/>
                </a:solidFill>
                <a:latin typeface="Arial" pitchFamily="34" charset="0"/>
                <a:ea typeface="Arial" pitchFamily="34" charset="-122"/>
                <a:cs typeface="Arial" pitchFamily="34" charset="-120"/>
              </a:rPr>
              <a:t>The apparent sex-specificity is partly an artefact of </a:t>
            </a:r>
            <a:pPr algn="ctr" indent="0" marL="0">
              <a:lnSpc>
                <a:spcPct val="110000"/>
              </a:lnSpc>
              <a:buNone/>
            </a:pPr>
            <a:r>
              <a:rPr lang="en-US" sz="1550" b="1" dirty="0">
                <a:solidFill>
                  <a:srgbClr val="DCEBEC"/>
                </a:solidFill>
                <a:latin typeface="Arial" pitchFamily="34" charset="0"/>
                <a:ea typeface="Arial" pitchFamily="34" charset="-122"/>
                <a:cs typeface="Arial" pitchFamily="34" charset="-120"/>
              </a:rPr>
              <a:t>per-cluster differential expression</a:t>
            </a:r>
            <a:pPr algn="ctr" indent="0" marL="0">
              <a:lnSpc>
                <a:spcPct val="110000"/>
              </a:lnSpc>
              <a:buNone/>
            </a:pPr>
            <a:r>
              <a:rPr lang="en-US" sz="1550" dirty="0">
                <a:solidFill>
                  <a:srgbClr val="DCEBEC"/>
                </a:solidFill>
                <a:latin typeface="Arial" pitchFamily="34" charset="0"/>
                <a:ea typeface="Arial" pitchFamily="34" charset="-122"/>
                <a:cs typeface="Arial" pitchFamily="34" charset="-120"/>
              </a:rPr>
              <a:t>, which treats each cell type in isolation and cannot see a signal that lives </a:t>
            </a:r>
            <a:pPr algn="ctr" indent="0" marL="0">
              <a:lnSpc>
                <a:spcPct val="110000"/>
              </a:lnSpc>
              <a:buNone/>
            </a:pPr>
            <a:r>
              <a:rPr lang="en-US" sz="1550" b="1" i="1" dirty="0">
                <a:solidFill>
                  <a:srgbClr val="DCEBEC"/>
                </a:solidFill>
                <a:latin typeface="Arial" pitchFamily="34" charset="0"/>
                <a:ea typeface="Arial" pitchFamily="34" charset="-122"/>
                <a:cs typeface="Arial" pitchFamily="34" charset="-120"/>
              </a:rPr>
              <a:t>between</a:t>
            </a:r>
            <a:pPr algn="ctr" indent="0" marL="0">
              <a:lnSpc>
                <a:spcPct val="110000"/>
              </a:lnSpc>
              <a:buNone/>
            </a:pPr>
            <a:r>
              <a:rPr lang="en-US" sz="1550" dirty="0">
                <a:solidFill>
                  <a:srgbClr val="DCEBEC"/>
                </a:solidFill>
                <a:latin typeface="Arial" pitchFamily="34" charset="0"/>
                <a:ea typeface="Arial" pitchFamily="34" charset="-122"/>
                <a:cs typeface="Arial" pitchFamily="34" charset="-120"/>
              </a:rPr>
              <a:t> cell types.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APPROACH</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An end-to-end, checkpointed pipeline</a:t>
            </a:r>
            <a:endParaRPr lang="en-US" sz="3000" dirty="0"/>
          </a:p>
        </p:txBody>
      </p:sp>
      <p:sp>
        <p:nvSpPr>
          <p:cNvPr id="4" name="Shape 2"/>
          <p:cNvSpPr/>
          <p:nvPr/>
        </p:nvSpPr>
        <p:spPr>
          <a:xfrm>
            <a:off x="548640" y="2194560"/>
            <a:ext cx="2532888" cy="3017520"/>
          </a:xfrm>
          <a:prstGeom prst="roundRect">
            <a:avLst>
              <a:gd name="adj" fmla="val 2888"/>
            </a:avLst>
          </a:prstGeom>
          <a:solidFill>
            <a:srgbClr val="EEF4F5"/>
          </a:solidFill>
          <a:ln/>
          <a:effectLst>
            <a:outerShdw sx="100000" sy="100000" kx="0" ky="0" algn="bl" rotWithShape="0" blurRad="88900" dist="38100" dir="5400000">
              <a:srgbClr val="000000">
                <a:alpha val="13000"/>
              </a:srgbClr>
            </a:outerShdw>
          </a:effectLst>
        </p:spPr>
      </p:sp>
      <p:sp>
        <p:nvSpPr>
          <p:cNvPr id="5" name="Shape 3"/>
          <p:cNvSpPr/>
          <p:nvPr/>
        </p:nvSpPr>
        <p:spPr>
          <a:xfrm>
            <a:off x="1403604" y="2514600"/>
            <a:ext cx="822960" cy="822960"/>
          </a:xfrm>
          <a:prstGeom prst="ellipse">
            <a:avLst/>
          </a:prstGeom>
          <a:solidFill>
            <a:srgbClr val="0E7C86"/>
          </a:solidFill>
          <a:ln/>
        </p:spPr>
      </p:sp>
      <p:sp>
        <p:nvSpPr>
          <p:cNvPr id="6" name="Text 4"/>
          <p:cNvSpPr/>
          <p:nvPr/>
        </p:nvSpPr>
        <p:spPr>
          <a:xfrm>
            <a:off x="1403604" y="25146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a:t>
            </a:r>
            <a:endParaRPr lang="en-US" sz="2600" dirty="0"/>
          </a:p>
        </p:txBody>
      </p:sp>
      <p:sp>
        <p:nvSpPr>
          <p:cNvPr id="7" name="Text 5"/>
          <p:cNvSpPr/>
          <p:nvPr/>
        </p:nvSpPr>
        <p:spPr>
          <a:xfrm>
            <a:off x="685800" y="3520440"/>
            <a:ext cx="2258568" cy="457200"/>
          </a:xfrm>
          <a:prstGeom prst="rect">
            <a:avLst/>
          </a:prstGeom>
          <a:noFill/>
          <a:ln/>
        </p:spPr>
        <p:txBody>
          <a:bodyPr wrap="square" lIns="0" tIns="0" rIns="0" bIns="0" rtlCol="0" anchor="ctr"/>
          <a:lstStyle/>
          <a:p>
            <a:pPr algn="ctr" indent="0" marL="0">
              <a:buNone/>
            </a:pPr>
            <a:r>
              <a:rPr lang="en-US" sz="1600" b="1" dirty="0">
                <a:solidFill>
                  <a:srgbClr val="12343B"/>
                </a:solidFill>
                <a:latin typeface="Arial" pitchFamily="34" charset="0"/>
                <a:ea typeface="Arial" pitchFamily="34" charset="-122"/>
                <a:cs typeface="Arial" pitchFamily="34" charset="-120"/>
              </a:rPr>
              <a:t>Reproduction</a:t>
            </a:r>
            <a:endParaRPr lang="en-US" sz="1600" dirty="0"/>
          </a:p>
        </p:txBody>
      </p:sp>
      <p:sp>
        <p:nvSpPr>
          <p:cNvPr id="8" name="Text 6"/>
          <p:cNvSpPr/>
          <p:nvPr/>
        </p:nvSpPr>
        <p:spPr>
          <a:xfrm>
            <a:off x="713232" y="3977640"/>
            <a:ext cx="2203704" cy="1097280"/>
          </a:xfrm>
          <a:prstGeom prst="rect">
            <a:avLst/>
          </a:prstGeom>
          <a:noFill/>
          <a:ln/>
        </p:spPr>
        <p:txBody>
          <a:bodyPr wrap="square" lIns="0" tIns="0" rIns="0" bIns="0" rtlCol="0" anchor="t"/>
          <a:lstStyle/>
          <a:p>
            <a:pPr algn="ctr" indent="0" marL="0">
              <a:lnSpc>
                <a:spcPct val="108000"/>
              </a:lnSpc>
              <a:buNone/>
            </a:pPr>
            <a:r>
              <a:rPr lang="en-US" sz="1250" dirty="0">
                <a:solidFill>
                  <a:srgbClr val="5A6B72"/>
                </a:solidFill>
                <a:latin typeface="Arial" pitchFamily="34" charset="0"/>
                <a:ea typeface="Arial" pitchFamily="34" charset="-122"/>
                <a:cs typeface="Arial" pitchFamily="34" charset="-120"/>
              </a:rPr>
              <a:t>Load &amp; annotate ~160k nuclei; confirm the cell-type signal</a:t>
            </a:r>
            <a:endParaRPr lang="en-US" sz="1250" dirty="0"/>
          </a:p>
        </p:txBody>
      </p:sp>
      <p:sp>
        <p:nvSpPr>
          <p:cNvPr id="9" name="Shape 7"/>
          <p:cNvSpPr/>
          <p:nvPr/>
        </p:nvSpPr>
        <p:spPr>
          <a:xfrm>
            <a:off x="3118104" y="3703320"/>
            <a:ext cx="246888" cy="0"/>
          </a:xfrm>
          <a:prstGeom prst="line">
            <a:avLst/>
          </a:prstGeom>
          <a:noFill/>
          <a:ln w="31750">
            <a:solidFill>
              <a:srgbClr val="5FB0B7"/>
            </a:solidFill>
            <a:prstDash val="solid"/>
            <a:tailEnd type="triangle"/>
          </a:ln>
        </p:spPr>
      </p:sp>
      <p:sp>
        <p:nvSpPr>
          <p:cNvPr id="10" name="Shape 8"/>
          <p:cNvSpPr/>
          <p:nvPr/>
        </p:nvSpPr>
        <p:spPr>
          <a:xfrm>
            <a:off x="3401568" y="2194560"/>
            <a:ext cx="2532888" cy="3017520"/>
          </a:xfrm>
          <a:prstGeom prst="roundRect">
            <a:avLst>
              <a:gd name="adj" fmla="val 2888"/>
            </a:avLst>
          </a:prstGeom>
          <a:solidFill>
            <a:srgbClr val="EEF4F5"/>
          </a:solidFill>
          <a:ln/>
          <a:effectLst>
            <a:outerShdw sx="100000" sy="100000" kx="0" ky="0" algn="bl" rotWithShape="0" blurRad="88900" dist="38100" dir="5400000">
              <a:srgbClr val="000000">
                <a:alpha val="13000"/>
              </a:srgbClr>
            </a:outerShdw>
          </a:effectLst>
        </p:spPr>
      </p:sp>
      <p:sp>
        <p:nvSpPr>
          <p:cNvPr id="11" name="Shape 9"/>
          <p:cNvSpPr/>
          <p:nvPr/>
        </p:nvSpPr>
        <p:spPr>
          <a:xfrm>
            <a:off x="4256532" y="2514600"/>
            <a:ext cx="822960" cy="822960"/>
          </a:xfrm>
          <a:prstGeom prst="ellipse">
            <a:avLst/>
          </a:prstGeom>
          <a:solidFill>
            <a:srgbClr val="8A4FAF"/>
          </a:solidFill>
          <a:ln/>
        </p:spPr>
      </p:sp>
      <p:sp>
        <p:nvSpPr>
          <p:cNvPr id="12" name="Text 10"/>
          <p:cNvSpPr/>
          <p:nvPr/>
        </p:nvSpPr>
        <p:spPr>
          <a:xfrm>
            <a:off x="4256532" y="25146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13" name="Text 11"/>
          <p:cNvSpPr/>
          <p:nvPr/>
        </p:nvSpPr>
        <p:spPr>
          <a:xfrm>
            <a:off x="3538728" y="3520440"/>
            <a:ext cx="2258568" cy="457200"/>
          </a:xfrm>
          <a:prstGeom prst="rect">
            <a:avLst/>
          </a:prstGeom>
          <a:noFill/>
          <a:ln/>
        </p:spPr>
        <p:txBody>
          <a:bodyPr wrap="square" lIns="0" tIns="0" rIns="0" bIns="0" rtlCol="0" anchor="ctr"/>
          <a:lstStyle/>
          <a:p>
            <a:pPr algn="ctr" indent="0" marL="0">
              <a:buNone/>
            </a:pPr>
            <a:r>
              <a:rPr lang="en-US" sz="1600" b="1" dirty="0">
                <a:solidFill>
                  <a:srgbClr val="12343B"/>
                </a:solidFill>
                <a:latin typeface="Arial" pitchFamily="34" charset="0"/>
                <a:ea typeface="Arial" pitchFamily="34" charset="-122"/>
                <a:cs typeface="Arial" pitchFamily="34" charset="-120"/>
              </a:rPr>
              <a:t>Communication</a:t>
            </a:r>
            <a:endParaRPr lang="en-US" sz="1600" dirty="0"/>
          </a:p>
        </p:txBody>
      </p:sp>
      <p:sp>
        <p:nvSpPr>
          <p:cNvPr id="14" name="Text 12"/>
          <p:cNvSpPr/>
          <p:nvPr/>
        </p:nvSpPr>
        <p:spPr>
          <a:xfrm>
            <a:off x="3566160" y="3977640"/>
            <a:ext cx="2203704" cy="1097280"/>
          </a:xfrm>
          <a:prstGeom prst="rect">
            <a:avLst/>
          </a:prstGeom>
          <a:noFill/>
          <a:ln/>
        </p:spPr>
        <p:txBody>
          <a:bodyPr wrap="square" lIns="0" tIns="0" rIns="0" bIns="0" rtlCol="0" anchor="t"/>
          <a:lstStyle/>
          <a:p>
            <a:pPr algn="ctr" indent="0" marL="0">
              <a:lnSpc>
                <a:spcPct val="108000"/>
              </a:lnSpc>
              <a:buNone/>
            </a:pPr>
            <a:r>
              <a:rPr lang="en-US" sz="1250" dirty="0">
                <a:solidFill>
                  <a:srgbClr val="5A6B72"/>
                </a:solidFill>
                <a:latin typeface="Arial" pitchFamily="34" charset="0"/>
                <a:ea typeface="Arial" pitchFamily="34" charset="-122"/>
                <a:cs typeface="Arial" pitchFamily="34" charset="-120"/>
              </a:rPr>
              <a:t>Per-donor LIANA → 4D tensor → 5 programs (CP decomposition)</a:t>
            </a:r>
            <a:endParaRPr lang="en-US" sz="1250" dirty="0"/>
          </a:p>
        </p:txBody>
      </p:sp>
      <p:sp>
        <p:nvSpPr>
          <p:cNvPr id="15" name="Shape 13"/>
          <p:cNvSpPr/>
          <p:nvPr/>
        </p:nvSpPr>
        <p:spPr>
          <a:xfrm>
            <a:off x="5971032" y="3703320"/>
            <a:ext cx="246888" cy="0"/>
          </a:xfrm>
          <a:prstGeom prst="line">
            <a:avLst/>
          </a:prstGeom>
          <a:noFill/>
          <a:ln w="31750">
            <a:solidFill>
              <a:srgbClr val="5FB0B7"/>
            </a:solidFill>
            <a:prstDash val="solid"/>
            <a:tailEnd type="triangle"/>
          </a:ln>
        </p:spPr>
      </p:sp>
      <p:sp>
        <p:nvSpPr>
          <p:cNvPr id="16" name="Shape 14"/>
          <p:cNvSpPr/>
          <p:nvPr/>
        </p:nvSpPr>
        <p:spPr>
          <a:xfrm>
            <a:off x="6254496" y="2194560"/>
            <a:ext cx="2532888" cy="3017520"/>
          </a:xfrm>
          <a:prstGeom prst="roundRect">
            <a:avLst>
              <a:gd name="adj" fmla="val 2888"/>
            </a:avLst>
          </a:prstGeom>
          <a:solidFill>
            <a:srgbClr val="EEF4F5"/>
          </a:solidFill>
          <a:ln/>
          <a:effectLst>
            <a:outerShdw sx="100000" sy="100000" kx="0" ky="0" algn="bl" rotWithShape="0" blurRad="88900" dist="38100" dir="5400000">
              <a:srgbClr val="000000">
                <a:alpha val="13000"/>
              </a:srgbClr>
            </a:outerShdw>
          </a:effectLst>
        </p:spPr>
      </p:sp>
      <p:sp>
        <p:nvSpPr>
          <p:cNvPr id="17" name="Shape 15"/>
          <p:cNvSpPr/>
          <p:nvPr/>
        </p:nvSpPr>
        <p:spPr>
          <a:xfrm>
            <a:off x="7109460" y="2514600"/>
            <a:ext cx="822960" cy="822960"/>
          </a:xfrm>
          <a:prstGeom prst="ellipse">
            <a:avLst/>
          </a:prstGeom>
          <a:solidFill>
            <a:srgbClr val="C0392B"/>
          </a:solidFill>
          <a:ln/>
        </p:spPr>
      </p:sp>
      <p:sp>
        <p:nvSpPr>
          <p:cNvPr id="18" name="Text 16"/>
          <p:cNvSpPr/>
          <p:nvPr/>
        </p:nvSpPr>
        <p:spPr>
          <a:xfrm>
            <a:off x="7109460" y="25146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19" name="Text 17"/>
          <p:cNvSpPr/>
          <p:nvPr/>
        </p:nvSpPr>
        <p:spPr>
          <a:xfrm>
            <a:off x="6391656" y="3520440"/>
            <a:ext cx="2258568" cy="457200"/>
          </a:xfrm>
          <a:prstGeom prst="rect">
            <a:avLst/>
          </a:prstGeom>
          <a:noFill/>
          <a:ln/>
        </p:spPr>
        <p:txBody>
          <a:bodyPr wrap="square" lIns="0" tIns="0" rIns="0" bIns="0" rtlCol="0" anchor="ctr"/>
          <a:lstStyle/>
          <a:p>
            <a:pPr algn="ctr" indent="0" marL="0">
              <a:buNone/>
            </a:pPr>
            <a:r>
              <a:rPr lang="en-US" sz="1600" b="1" dirty="0">
                <a:solidFill>
                  <a:srgbClr val="12343B"/>
                </a:solidFill>
                <a:latin typeface="Arial" pitchFamily="34" charset="0"/>
                <a:ea typeface="Arial" pitchFamily="34" charset="-122"/>
                <a:cs typeface="Arial" pitchFamily="34" charset="-120"/>
              </a:rPr>
              <a:t>Machine learning</a:t>
            </a:r>
            <a:endParaRPr lang="en-US" sz="1600" dirty="0"/>
          </a:p>
        </p:txBody>
      </p:sp>
      <p:sp>
        <p:nvSpPr>
          <p:cNvPr id="20" name="Text 18"/>
          <p:cNvSpPr/>
          <p:nvPr/>
        </p:nvSpPr>
        <p:spPr>
          <a:xfrm>
            <a:off x="6419088" y="3977640"/>
            <a:ext cx="2203704" cy="1097280"/>
          </a:xfrm>
          <a:prstGeom prst="rect">
            <a:avLst/>
          </a:prstGeom>
          <a:noFill/>
          <a:ln/>
        </p:spPr>
        <p:txBody>
          <a:bodyPr wrap="square" lIns="0" tIns="0" rIns="0" bIns="0" rtlCol="0" anchor="t"/>
          <a:lstStyle/>
          <a:p>
            <a:pPr algn="ctr" indent="0" marL="0">
              <a:lnSpc>
                <a:spcPct val="108000"/>
              </a:lnSpc>
              <a:buNone/>
            </a:pPr>
            <a:r>
              <a:rPr lang="en-US" sz="1250" dirty="0">
                <a:solidFill>
                  <a:srgbClr val="5A6B72"/>
                </a:solidFill>
                <a:latin typeface="Arial" pitchFamily="34" charset="0"/>
                <a:ea typeface="Arial" pitchFamily="34" charset="-122"/>
                <a:cs typeface="Arial" pitchFamily="34" charset="-120"/>
              </a:rPr>
              <a:t>3 feature sets, rigorous nested CV, 5 estimators</a:t>
            </a:r>
            <a:endParaRPr lang="en-US" sz="1250" dirty="0"/>
          </a:p>
        </p:txBody>
      </p:sp>
      <p:sp>
        <p:nvSpPr>
          <p:cNvPr id="21" name="Shape 19"/>
          <p:cNvSpPr/>
          <p:nvPr/>
        </p:nvSpPr>
        <p:spPr>
          <a:xfrm>
            <a:off x="8823960" y="3703320"/>
            <a:ext cx="246888" cy="0"/>
          </a:xfrm>
          <a:prstGeom prst="line">
            <a:avLst/>
          </a:prstGeom>
          <a:noFill/>
          <a:ln w="31750">
            <a:solidFill>
              <a:srgbClr val="5FB0B7"/>
            </a:solidFill>
            <a:prstDash val="solid"/>
            <a:tailEnd type="triangle"/>
          </a:ln>
        </p:spPr>
      </p:sp>
      <p:sp>
        <p:nvSpPr>
          <p:cNvPr id="22" name="Shape 20"/>
          <p:cNvSpPr/>
          <p:nvPr/>
        </p:nvSpPr>
        <p:spPr>
          <a:xfrm>
            <a:off x="9107424" y="2194560"/>
            <a:ext cx="2532888" cy="3017520"/>
          </a:xfrm>
          <a:prstGeom prst="roundRect">
            <a:avLst>
              <a:gd name="adj" fmla="val 2888"/>
            </a:avLst>
          </a:prstGeom>
          <a:solidFill>
            <a:srgbClr val="EEF4F5"/>
          </a:solidFill>
          <a:ln/>
          <a:effectLst>
            <a:outerShdw sx="100000" sy="100000" kx="0" ky="0" algn="bl" rotWithShape="0" blurRad="88900" dist="38100" dir="5400000">
              <a:srgbClr val="000000">
                <a:alpha val="13000"/>
              </a:srgbClr>
            </a:outerShdw>
          </a:effectLst>
        </p:spPr>
      </p:sp>
      <p:sp>
        <p:nvSpPr>
          <p:cNvPr id="23" name="Shape 21"/>
          <p:cNvSpPr/>
          <p:nvPr/>
        </p:nvSpPr>
        <p:spPr>
          <a:xfrm>
            <a:off x="9962388" y="2514600"/>
            <a:ext cx="822960" cy="822960"/>
          </a:xfrm>
          <a:prstGeom prst="ellipse">
            <a:avLst/>
          </a:prstGeom>
          <a:solidFill>
            <a:srgbClr val="C8922A"/>
          </a:solidFill>
          <a:ln/>
        </p:spPr>
      </p:sp>
      <p:sp>
        <p:nvSpPr>
          <p:cNvPr id="24" name="Text 22"/>
          <p:cNvSpPr/>
          <p:nvPr/>
        </p:nvSpPr>
        <p:spPr>
          <a:xfrm>
            <a:off x="9962388" y="25146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D</a:t>
            </a:r>
            <a:endParaRPr lang="en-US" sz="2600" dirty="0"/>
          </a:p>
        </p:txBody>
      </p:sp>
      <p:sp>
        <p:nvSpPr>
          <p:cNvPr id="25" name="Text 23"/>
          <p:cNvSpPr/>
          <p:nvPr/>
        </p:nvSpPr>
        <p:spPr>
          <a:xfrm>
            <a:off x="9244584" y="3520440"/>
            <a:ext cx="2258568" cy="457200"/>
          </a:xfrm>
          <a:prstGeom prst="rect">
            <a:avLst/>
          </a:prstGeom>
          <a:noFill/>
          <a:ln/>
        </p:spPr>
        <p:txBody>
          <a:bodyPr wrap="square" lIns="0" tIns="0" rIns="0" bIns="0" rtlCol="0" anchor="ctr"/>
          <a:lstStyle/>
          <a:p>
            <a:pPr algn="ctr" indent="0" marL="0">
              <a:buNone/>
            </a:pPr>
            <a:r>
              <a:rPr lang="en-US" sz="1600" b="1" dirty="0">
                <a:solidFill>
                  <a:srgbClr val="12343B"/>
                </a:solidFill>
                <a:latin typeface="Arial" pitchFamily="34" charset="0"/>
                <a:ea typeface="Arial" pitchFamily="34" charset="-122"/>
                <a:cs typeface="Arial" pitchFamily="34" charset="-120"/>
              </a:rPr>
              <a:t>Interpretation</a:t>
            </a:r>
            <a:endParaRPr lang="en-US" sz="1600" dirty="0"/>
          </a:p>
        </p:txBody>
      </p:sp>
      <p:sp>
        <p:nvSpPr>
          <p:cNvPr id="26" name="Text 24"/>
          <p:cNvSpPr/>
          <p:nvPr/>
        </p:nvSpPr>
        <p:spPr>
          <a:xfrm>
            <a:off x="9272016" y="3977640"/>
            <a:ext cx="2203704" cy="1097280"/>
          </a:xfrm>
          <a:prstGeom prst="rect">
            <a:avLst/>
          </a:prstGeom>
          <a:noFill/>
          <a:ln/>
        </p:spPr>
        <p:txBody>
          <a:bodyPr wrap="square" lIns="0" tIns="0" rIns="0" bIns="0" rtlCol="0" anchor="t"/>
          <a:lstStyle/>
          <a:p>
            <a:pPr algn="ctr" indent="0" marL="0">
              <a:lnSpc>
                <a:spcPct val="108000"/>
              </a:lnSpc>
              <a:buNone/>
            </a:pPr>
            <a:r>
              <a:rPr lang="en-US" sz="1250" dirty="0">
                <a:solidFill>
                  <a:srgbClr val="5A6B72"/>
                </a:solidFill>
                <a:latin typeface="Arial" pitchFamily="34" charset="0"/>
                <a:ea typeface="Arial" pitchFamily="34" charset="-122"/>
                <a:cs typeface="Arial" pitchFamily="34" charset="-120"/>
              </a:rPr>
              <a:t>SHAP + directed hypothesis test on Factor 4</a:t>
            </a:r>
            <a:endParaRPr lang="en-US" sz="1250" dirty="0"/>
          </a:p>
        </p:txBody>
      </p:sp>
      <p:sp>
        <p:nvSpPr>
          <p:cNvPr id="27" name="Text 25"/>
          <p:cNvSpPr/>
          <p:nvPr/>
        </p:nvSpPr>
        <p:spPr>
          <a:xfrm>
            <a:off x="548640" y="5669280"/>
            <a:ext cx="10515600" cy="365760"/>
          </a:xfrm>
          <a:prstGeom prst="rect">
            <a:avLst/>
          </a:prstGeom>
          <a:noFill/>
          <a:ln/>
        </p:spPr>
        <p:txBody>
          <a:bodyPr wrap="square" lIns="0" tIns="0" rIns="0" bIns="0" rtlCol="0" anchor="ctr"/>
          <a:lstStyle/>
          <a:p>
            <a:pPr indent="0" marL="0">
              <a:buNone/>
            </a:pPr>
            <a:r>
              <a:rPr lang="en-US" sz="1400" i="1" dirty="0">
                <a:solidFill>
                  <a:srgbClr val="5A6B72"/>
                </a:solidFill>
                <a:latin typeface="Arial" pitchFamily="34" charset="0"/>
                <a:ea typeface="Arial" pitchFamily="34" charset="-122"/>
                <a:cs typeface="Arial" pitchFamily="34" charset="-120"/>
              </a:rPr>
              <a:t>Each expensive step is checkpointed — a runtime timeout never costs more than one step.</a:t>
            </a:r>
            <a:endParaRPr lang="en-US" sz="1400" dirty="0"/>
          </a:p>
        </p:txBody>
      </p:sp>
      <p:sp>
        <p:nvSpPr>
          <p:cNvPr id="28" name="Text 26"/>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DATA</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71 donors — and one confound that shaped everything</a:t>
            </a:r>
            <a:endParaRPr lang="en-US" sz="3000" dirty="0"/>
          </a:p>
        </p:txBody>
      </p:sp>
      <p:sp>
        <p:nvSpPr>
          <p:cNvPr id="4" name="Shape 2"/>
          <p:cNvSpPr/>
          <p:nvPr/>
        </p:nvSpPr>
        <p:spPr>
          <a:xfrm>
            <a:off x="548640" y="1828800"/>
            <a:ext cx="2743200" cy="1051560"/>
          </a:xfrm>
          <a:prstGeom prst="roundRect">
            <a:avLst>
              <a:gd name="adj" fmla="val 6087"/>
            </a:avLst>
          </a:prstGeom>
          <a:solidFill>
            <a:srgbClr val="EEF4F5"/>
          </a:solidFill>
          <a:ln/>
        </p:spPr>
      </p:sp>
      <p:sp>
        <p:nvSpPr>
          <p:cNvPr id="5" name="Text 3"/>
          <p:cNvSpPr/>
          <p:nvPr/>
        </p:nvSpPr>
        <p:spPr>
          <a:xfrm>
            <a:off x="731520" y="1938528"/>
            <a:ext cx="2377440" cy="54864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71</a:t>
            </a:r>
            <a:endParaRPr lang="en-US" sz="2600" dirty="0"/>
          </a:p>
        </p:txBody>
      </p:sp>
      <p:sp>
        <p:nvSpPr>
          <p:cNvPr id="6" name="Text 4"/>
          <p:cNvSpPr/>
          <p:nvPr/>
        </p:nvSpPr>
        <p:spPr>
          <a:xfrm>
            <a:off x="731520" y="2487168"/>
            <a:ext cx="2377440" cy="320040"/>
          </a:xfrm>
          <a:prstGeom prst="rect">
            <a:avLst/>
          </a:prstGeom>
          <a:noFill/>
          <a:ln/>
        </p:spPr>
        <p:txBody>
          <a:bodyPr wrap="square" lIns="0" tIns="0" rIns="0" bIns="0" rtlCol="0" anchor="ctr"/>
          <a:lstStyle/>
          <a:p>
            <a:pPr indent="0" marL="0">
              <a:buNone/>
            </a:pPr>
            <a:r>
              <a:rPr lang="en-US" sz="1250" dirty="0">
                <a:solidFill>
                  <a:srgbClr val="5A6B72"/>
                </a:solidFill>
                <a:latin typeface="Arial" pitchFamily="34" charset="0"/>
                <a:ea typeface="Arial" pitchFamily="34" charset="-122"/>
                <a:cs typeface="Arial" pitchFamily="34" charset="-120"/>
              </a:rPr>
              <a:t>donors (the CV unit)</a:t>
            </a:r>
            <a:endParaRPr lang="en-US" sz="1250" dirty="0"/>
          </a:p>
        </p:txBody>
      </p:sp>
      <p:sp>
        <p:nvSpPr>
          <p:cNvPr id="7" name="Shape 5"/>
          <p:cNvSpPr/>
          <p:nvPr/>
        </p:nvSpPr>
        <p:spPr>
          <a:xfrm>
            <a:off x="3520440" y="1828800"/>
            <a:ext cx="2743200" cy="1051560"/>
          </a:xfrm>
          <a:prstGeom prst="roundRect">
            <a:avLst>
              <a:gd name="adj" fmla="val 6087"/>
            </a:avLst>
          </a:prstGeom>
          <a:solidFill>
            <a:srgbClr val="EEF4F5"/>
          </a:solidFill>
          <a:ln/>
        </p:spPr>
      </p:sp>
      <p:sp>
        <p:nvSpPr>
          <p:cNvPr id="8" name="Text 6"/>
          <p:cNvSpPr/>
          <p:nvPr/>
        </p:nvSpPr>
        <p:spPr>
          <a:xfrm>
            <a:off x="3703320" y="1938528"/>
            <a:ext cx="2377440" cy="54864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37 / 34</a:t>
            </a:r>
            <a:endParaRPr lang="en-US" sz="2600" dirty="0"/>
          </a:p>
        </p:txBody>
      </p:sp>
      <p:sp>
        <p:nvSpPr>
          <p:cNvPr id="9" name="Text 7"/>
          <p:cNvSpPr/>
          <p:nvPr/>
        </p:nvSpPr>
        <p:spPr>
          <a:xfrm>
            <a:off x="3703320" y="2487168"/>
            <a:ext cx="2377440" cy="320040"/>
          </a:xfrm>
          <a:prstGeom prst="rect">
            <a:avLst/>
          </a:prstGeom>
          <a:noFill/>
          <a:ln/>
        </p:spPr>
        <p:txBody>
          <a:bodyPr wrap="square" lIns="0" tIns="0" rIns="0" bIns="0" rtlCol="0" anchor="ctr"/>
          <a:lstStyle/>
          <a:p>
            <a:pPr indent="0" marL="0">
              <a:buNone/>
            </a:pPr>
            <a:r>
              <a:rPr lang="en-US" sz="1250" dirty="0">
                <a:solidFill>
                  <a:srgbClr val="5A6B72"/>
                </a:solidFill>
                <a:latin typeface="Arial" pitchFamily="34" charset="0"/>
                <a:ea typeface="Arial" pitchFamily="34" charset="-122"/>
                <a:cs typeface="Arial" pitchFamily="34" charset="-120"/>
              </a:rPr>
              <a:t>MDD / Control</a:t>
            </a:r>
            <a:endParaRPr lang="en-US" sz="1250" dirty="0"/>
          </a:p>
        </p:txBody>
      </p:sp>
      <p:sp>
        <p:nvSpPr>
          <p:cNvPr id="10" name="Shape 8"/>
          <p:cNvSpPr/>
          <p:nvPr/>
        </p:nvSpPr>
        <p:spPr>
          <a:xfrm>
            <a:off x="548640" y="3108960"/>
            <a:ext cx="2743200" cy="1051560"/>
          </a:xfrm>
          <a:prstGeom prst="roundRect">
            <a:avLst>
              <a:gd name="adj" fmla="val 6087"/>
            </a:avLst>
          </a:prstGeom>
          <a:solidFill>
            <a:srgbClr val="EEF4F5"/>
          </a:solidFill>
          <a:ln/>
        </p:spPr>
      </p:sp>
      <p:sp>
        <p:nvSpPr>
          <p:cNvPr id="11" name="Text 9"/>
          <p:cNvSpPr/>
          <p:nvPr/>
        </p:nvSpPr>
        <p:spPr>
          <a:xfrm>
            <a:off x="731520" y="3218688"/>
            <a:ext cx="2377440" cy="54864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38 / 33</a:t>
            </a:r>
            <a:endParaRPr lang="en-US" sz="2600" dirty="0"/>
          </a:p>
        </p:txBody>
      </p:sp>
      <p:sp>
        <p:nvSpPr>
          <p:cNvPr id="12" name="Text 10"/>
          <p:cNvSpPr/>
          <p:nvPr/>
        </p:nvSpPr>
        <p:spPr>
          <a:xfrm>
            <a:off x="731520" y="3767328"/>
            <a:ext cx="2377440" cy="320040"/>
          </a:xfrm>
          <a:prstGeom prst="rect">
            <a:avLst/>
          </a:prstGeom>
          <a:noFill/>
          <a:ln/>
        </p:spPr>
        <p:txBody>
          <a:bodyPr wrap="square" lIns="0" tIns="0" rIns="0" bIns="0" rtlCol="0" anchor="ctr"/>
          <a:lstStyle/>
          <a:p>
            <a:pPr indent="0" marL="0">
              <a:buNone/>
            </a:pPr>
            <a:r>
              <a:rPr lang="en-US" sz="1250" dirty="0">
                <a:solidFill>
                  <a:srgbClr val="5A6B72"/>
                </a:solidFill>
                <a:latin typeface="Arial" pitchFamily="34" charset="0"/>
                <a:ea typeface="Arial" pitchFamily="34" charset="-122"/>
                <a:cs typeface="Arial" pitchFamily="34" charset="-120"/>
              </a:rPr>
              <a:t>female / male</a:t>
            </a:r>
            <a:endParaRPr lang="en-US" sz="1250" dirty="0"/>
          </a:p>
        </p:txBody>
      </p:sp>
      <p:sp>
        <p:nvSpPr>
          <p:cNvPr id="13" name="Shape 11"/>
          <p:cNvSpPr/>
          <p:nvPr/>
        </p:nvSpPr>
        <p:spPr>
          <a:xfrm>
            <a:off x="3520440" y="3108960"/>
            <a:ext cx="2743200" cy="1051560"/>
          </a:xfrm>
          <a:prstGeom prst="roundRect">
            <a:avLst>
              <a:gd name="adj" fmla="val 6087"/>
            </a:avLst>
          </a:prstGeom>
          <a:solidFill>
            <a:srgbClr val="EEF4F5"/>
          </a:solidFill>
          <a:ln/>
        </p:spPr>
      </p:sp>
      <p:sp>
        <p:nvSpPr>
          <p:cNvPr id="14" name="Text 12"/>
          <p:cNvSpPr/>
          <p:nvPr/>
        </p:nvSpPr>
        <p:spPr>
          <a:xfrm>
            <a:off x="3703320" y="3218688"/>
            <a:ext cx="2377440" cy="54864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160,711</a:t>
            </a:r>
            <a:endParaRPr lang="en-US" sz="2600" dirty="0"/>
          </a:p>
        </p:txBody>
      </p:sp>
      <p:sp>
        <p:nvSpPr>
          <p:cNvPr id="15" name="Text 13"/>
          <p:cNvSpPr/>
          <p:nvPr/>
        </p:nvSpPr>
        <p:spPr>
          <a:xfrm>
            <a:off x="3703320" y="3767328"/>
            <a:ext cx="2377440" cy="320040"/>
          </a:xfrm>
          <a:prstGeom prst="rect">
            <a:avLst/>
          </a:prstGeom>
          <a:noFill/>
          <a:ln/>
        </p:spPr>
        <p:txBody>
          <a:bodyPr wrap="square" lIns="0" tIns="0" rIns="0" bIns="0" rtlCol="0" anchor="ctr"/>
          <a:lstStyle/>
          <a:p>
            <a:pPr indent="0" marL="0">
              <a:buNone/>
            </a:pPr>
            <a:r>
              <a:rPr lang="en-US" sz="1250" dirty="0">
                <a:solidFill>
                  <a:srgbClr val="5A6B72"/>
                </a:solidFill>
                <a:latin typeface="Arial" pitchFamily="34" charset="0"/>
                <a:ea typeface="Arial" pitchFamily="34" charset="-122"/>
                <a:cs typeface="Arial" pitchFamily="34" charset="-120"/>
              </a:rPr>
              <a:t>high-quality nuclei</a:t>
            </a:r>
            <a:endParaRPr lang="en-US" sz="1250" dirty="0"/>
          </a:p>
        </p:txBody>
      </p:sp>
      <p:sp>
        <p:nvSpPr>
          <p:cNvPr id="16" name="Shape 14"/>
          <p:cNvSpPr/>
          <p:nvPr/>
        </p:nvSpPr>
        <p:spPr>
          <a:xfrm>
            <a:off x="6583680" y="1828800"/>
            <a:ext cx="5029200" cy="3246120"/>
          </a:xfrm>
          <a:prstGeom prst="roundRect">
            <a:avLst>
              <a:gd name="adj" fmla="val 2254"/>
            </a:avLst>
          </a:prstGeom>
          <a:solidFill>
            <a:srgbClr val="FBEDEB"/>
          </a:solidFill>
          <a:ln/>
          <a:effectLst>
            <a:outerShdw sx="100000" sy="100000" kx="0" ky="0" algn="bl" rotWithShape="0" blurRad="88900" dist="38100" dir="5400000">
              <a:srgbClr val="000000">
                <a:alpha val="13000"/>
              </a:srgbClr>
            </a:outerShdw>
          </a:effectLst>
        </p:spPr>
      </p:sp>
      <p:sp>
        <p:nvSpPr>
          <p:cNvPr id="17" name="Text 15"/>
          <p:cNvSpPr/>
          <p:nvPr/>
        </p:nvSpPr>
        <p:spPr>
          <a:xfrm>
            <a:off x="6949440" y="2103120"/>
            <a:ext cx="429768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Arial" pitchFamily="34" charset="0"/>
                <a:ea typeface="Arial" pitchFamily="34" charset="-122"/>
                <a:cs typeface="Arial" pitchFamily="34" charset="-120"/>
              </a:rPr>
              <a:t>THE CONFOUND TO TRACK</a:t>
            </a:r>
            <a:endParaRPr lang="en-US" sz="1300" dirty="0"/>
          </a:p>
        </p:txBody>
      </p:sp>
      <p:sp>
        <p:nvSpPr>
          <p:cNvPr id="18" name="Text 16"/>
          <p:cNvSpPr/>
          <p:nvPr/>
        </p:nvSpPr>
        <p:spPr>
          <a:xfrm>
            <a:off x="6949440" y="2468880"/>
            <a:ext cx="4297680" cy="914400"/>
          </a:xfrm>
          <a:prstGeom prst="rect">
            <a:avLst/>
          </a:prstGeom>
          <a:noFill/>
          <a:ln/>
        </p:spPr>
        <p:txBody>
          <a:bodyPr wrap="square" lIns="0" tIns="0" rIns="0" bIns="0" rtlCol="0" anchor="t"/>
          <a:lstStyle/>
          <a:p>
            <a:pPr indent="0" marL="0">
              <a:lnSpc>
                <a:spcPct val="112000"/>
              </a:lnSpc>
              <a:buNone/>
            </a:pPr>
            <a:r>
              <a:rPr lang="en-US" sz="1550" b="1" dirty="0">
                <a:solidFill>
                  <a:srgbClr val="12343B"/>
                </a:solidFill>
                <a:latin typeface="Arial" pitchFamily="34" charset="0"/>
                <a:ea typeface="Arial" pitchFamily="34" charset="-122"/>
                <a:cs typeface="Arial" pitchFamily="34" charset="-120"/>
              </a:rPr>
              <a:t>Sex is perfectly confounded with cohort/library</a:t>
            </a:r>
            <a:pPr indent="0" marL="0">
              <a:lnSpc>
                <a:spcPct val="112000"/>
              </a:lnSpc>
              <a:buNone/>
            </a:pPr>
            <a:r>
              <a:rPr lang="en-US" sz="1550" dirty="0">
                <a:solidFill>
                  <a:srgbClr val="12343B"/>
                </a:solidFill>
                <a:latin typeface="Arial" pitchFamily="34" charset="0"/>
                <a:ea typeface="Arial" pitchFamily="34" charset="-122"/>
                <a:cs typeface="Arial" pitchFamily="34" charset="-120"/>
              </a:rPr>
              <a:t>:  females = GSE213982,  males = GSE144136.</a:t>
            </a:r>
            <a:endParaRPr lang="en-US" sz="1550" dirty="0"/>
          </a:p>
        </p:txBody>
      </p:sp>
      <p:sp>
        <p:nvSpPr>
          <p:cNvPr id="19" name="Text 17"/>
          <p:cNvSpPr/>
          <p:nvPr/>
        </p:nvSpPr>
        <p:spPr>
          <a:xfrm>
            <a:off x="6949440" y="3429000"/>
            <a:ext cx="4297680" cy="1463040"/>
          </a:xfrm>
          <a:prstGeom prst="rect">
            <a:avLst/>
          </a:prstGeom>
          <a:noFill/>
          <a:ln/>
        </p:spPr>
        <p:txBody>
          <a:bodyPr wrap="square" lIns="0" tIns="0" rIns="0" bIns="0" rtlCol="0" anchor="t"/>
          <a:lstStyle/>
          <a:p>
            <a:pPr indent="0" marL="0">
              <a:lnSpc>
                <a:spcPct val="112000"/>
              </a:lnSpc>
              <a:buNone/>
            </a:pPr>
            <a:r>
              <a:rPr lang="en-US" sz="1500" dirty="0">
                <a:solidFill>
                  <a:srgbClr val="5A3A36"/>
                </a:solidFill>
                <a:latin typeface="Arial" pitchFamily="34" charset="0"/>
                <a:ea typeface="Arial" pitchFamily="34" charset="-122"/>
                <a:cs typeface="Arial" pitchFamily="34" charset="-120"/>
              </a:rPr>
              <a:t>Any train-on-one-sex / test-on-the-other split is also a train/test </a:t>
            </a:r>
            <a:pPr indent="0" marL="0">
              <a:lnSpc>
                <a:spcPct val="112000"/>
              </a:lnSpc>
              <a:buNone/>
            </a:pPr>
            <a:r>
              <a:rPr lang="en-US" sz="1500" b="1" dirty="0">
                <a:solidFill>
                  <a:srgbClr val="5A3A36"/>
                </a:solidFill>
                <a:latin typeface="Arial" pitchFamily="34" charset="0"/>
                <a:ea typeface="Arial" pitchFamily="34" charset="-122"/>
                <a:cs typeface="Arial" pitchFamily="34" charset="-120"/>
              </a:rPr>
              <a:t>across-batch</a:t>
            </a:r>
            <a:pPr indent="0" marL="0">
              <a:lnSpc>
                <a:spcPct val="112000"/>
              </a:lnSpc>
              <a:buNone/>
            </a:pPr>
            <a:r>
              <a:rPr lang="en-US" sz="1500" dirty="0">
                <a:solidFill>
                  <a:srgbClr val="5A3A36"/>
                </a:solidFill>
                <a:latin typeface="Arial" pitchFamily="34" charset="0"/>
                <a:ea typeface="Arial" pitchFamily="34" charset="-122"/>
                <a:cs typeface="Arial" pitchFamily="34" charset="-120"/>
              </a:rPr>
              <a:t> split — so a failure to generalise could be batch, not biology.</a:t>
            </a:r>
            <a:endParaRPr lang="en-US" sz="1500" dirty="0"/>
          </a:p>
        </p:txBody>
      </p:sp>
      <p:sp>
        <p:nvSpPr>
          <p:cNvPr id="20" name="Text 18"/>
          <p:cNvSpPr/>
          <p:nvPr/>
        </p:nvSpPr>
        <p:spPr>
          <a:xfrm>
            <a:off x="548640" y="5623560"/>
            <a:ext cx="10515600" cy="457200"/>
          </a:xfrm>
          <a:prstGeom prst="rect">
            <a:avLst/>
          </a:prstGeom>
          <a:noFill/>
          <a:ln/>
        </p:spPr>
        <p:txBody>
          <a:bodyPr wrap="square" lIns="0" tIns="0" rIns="0" bIns="0" rtlCol="0" anchor="ctr"/>
          <a:lstStyle/>
          <a:p>
            <a:pPr indent="0" marL="0">
              <a:buNone/>
            </a:pPr>
            <a:r>
              <a:rPr lang="en-US" sz="1400" i="1" dirty="0">
                <a:solidFill>
                  <a:srgbClr val="5A6B72"/>
                </a:solidFill>
                <a:latin typeface="Arial" pitchFamily="34" charset="0"/>
                <a:ea typeface="Arial" pitchFamily="34" charset="-122"/>
                <a:cs typeface="Arial" pitchFamily="34" charset="-120"/>
              </a:rPr>
              <a:t>This single fact reshaped the entire evaluation design (no leave-one-sex-out).</a:t>
            </a:r>
            <a:endParaRPr lang="en-US" sz="1400" dirty="0"/>
          </a:p>
        </p:txBody>
      </p:sp>
      <p:sp>
        <p:nvSpPr>
          <p:cNvPr id="21" name="Text 19"/>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A · REPRODUCTION</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Confirm the cell-type signal, leakage-aware</a:t>
            </a:r>
            <a:endParaRPr lang="en-US" sz="3000" dirty="0"/>
          </a:p>
        </p:txBody>
      </p:sp>
      <p:sp>
        <p:nvSpPr>
          <p:cNvPr id="4" name="Text 2"/>
          <p:cNvSpPr/>
          <p:nvPr/>
        </p:nvSpPr>
        <p:spPr>
          <a:xfrm>
            <a:off x="548640" y="1828800"/>
            <a:ext cx="5394960" cy="1371600"/>
          </a:xfrm>
          <a:prstGeom prst="rect">
            <a:avLst/>
          </a:prstGeom>
          <a:noFill/>
          <a:ln/>
        </p:spPr>
        <p:txBody>
          <a:bodyPr wrap="square" lIns="0" tIns="0" rIns="0" bIns="0" rtlCol="0" anchor="t"/>
          <a:lstStyle/>
          <a:p>
            <a:pPr indent="0" marL="0">
              <a:lnSpc>
                <a:spcPct val="112000"/>
              </a:lnSpc>
              <a:spcAft>
                <a:spcPts val="600"/>
              </a:spcAft>
              <a:buNone/>
            </a:pPr>
            <a:r>
              <a:rPr lang="en-US" sz="1600" b="1" dirty="0">
                <a:solidFill>
                  <a:srgbClr val="000000"/>
                </a:solidFill>
                <a:latin typeface="Arial" pitchFamily="34" charset="0"/>
                <a:ea typeface="Arial" pitchFamily="34" charset="-122"/>
                <a:cs typeface="Arial" pitchFamily="34" charset="-120"/>
              </a:rPr>
              <a:t>Annotations already validated</a:t>
            </a:r>
            <a:endParaRPr lang="en-US" sz="1600" dirty="0"/>
          </a:p>
          <a:p>
            <a:pPr indent="0" marL="0">
              <a:lnSpc>
                <a:spcPct val="112000"/>
              </a:lnSpc>
              <a:spcAft>
                <a:spcPts val="600"/>
              </a:spcAft>
              <a:buNone/>
            </a:pPr>
            <a:r>
              <a:rPr lang="en-US" sz="1400" dirty="0">
                <a:solidFill>
                  <a:srgbClr val="5A6B72"/>
                </a:solidFill>
                <a:latin typeface="Arial" pitchFamily="34" charset="0"/>
                <a:ea typeface="Arial" pitchFamily="34" charset="-122"/>
                <a:cs typeface="Arial" pitchFamily="34" charset="-120"/>
              </a:rPr>
              <a:t>We do not re-cluster (stochastic); the authors' QC and cell-type labels are reused, baked into each cell ID.</a:t>
            </a:r>
            <a:endParaRPr lang="en-US" sz="1600" dirty="0"/>
          </a:p>
        </p:txBody>
      </p:sp>
      <p:sp>
        <p:nvSpPr>
          <p:cNvPr id="5" name="Text 3"/>
          <p:cNvSpPr/>
          <p:nvPr/>
        </p:nvSpPr>
        <p:spPr>
          <a:xfrm>
            <a:off x="548640" y="3291840"/>
            <a:ext cx="5394960" cy="1554480"/>
          </a:xfrm>
          <a:prstGeom prst="rect">
            <a:avLst/>
          </a:prstGeom>
          <a:noFill/>
          <a:ln/>
        </p:spPr>
        <p:txBody>
          <a:bodyPr wrap="square" lIns="0" tIns="0" rIns="0" bIns="0" rtlCol="0" anchor="t"/>
          <a:lstStyle/>
          <a:p>
            <a:pPr indent="0" marL="0">
              <a:lnSpc>
                <a:spcPct val="112000"/>
              </a:lnSpc>
              <a:spcAft>
                <a:spcPts val="600"/>
              </a:spcAft>
              <a:buNone/>
            </a:pPr>
            <a:r>
              <a:rPr lang="en-US" sz="1600" b="1" dirty="0">
                <a:solidFill>
                  <a:srgbClr val="000000"/>
                </a:solidFill>
                <a:latin typeface="Arial" pitchFamily="34" charset="0"/>
                <a:ea typeface="Arial" pitchFamily="34" charset="-122"/>
                <a:cs typeface="Arial" pitchFamily="34" charset="-120"/>
              </a:rPr>
              <a:t>DEG sanity check passes</a:t>
            </a:r>
            <a:endParaRPr lang="en-US" sz="1600" dirty="0"/>
          </a:p>
          <a:p>
            <a:pPr indent="0" marL="0">
              <a:lnSpc>
                <a:spcPct val="112000"/>
              </a:lnSpc>
              <a:spcAft>
                <a:spcPts val="600"/>
              </a:spcAft>
              <a:buNone/>
            </a:pPr>
            <a:r>
              <a:rPr lang="en-US" sz="1400" dirty="0">
                <a:solidFill>
                  <a:srgbClr val="5A6B72"/>
                </a:solidFill>
                <a:latin typeface="Arial" pitchFamily="34" charset="0"/>
                <a:ea typeface="Arial" pitchFamily="34" charset="-122"/>
                <a:cs typeface="Arial" pitchFamily="34" charset="-120"/>
              </a:rPr>
              <a:t>Mic1 (female): synaptic/adhesion genes up.  ExN10_L46 (male): metabolic/synaptic genes (GAPDH, PKM, CKB, VAMP2, SNCB) down.</a:t>
            </a:r>
            <a:endParaRPr lang="en-US" sz="1600" dirty="0"/>
          </a:p>
        </p:txBody>
      </p:sp>
      <p:sp>
        <p:nvSpPr>
          <p:cNvPr id="6" name="Shape 4"/>
          <p:cNvSpPr/>
          <p:nvPr/>
        </p:nvSpPr>
        <p:spPr>
          <a:xfrm>
            <a:off x="6400800" y="1828800"/>
            <a:ext cx="5212080" cy="3108960"/>
          </a:xfrm>
          <a:prstGeom prst="roundRect">
            <a:avLst>
              <a:gd name="adj" fmla="val 2353"/>
            </a:avLst>
          </a:prstGeom>
          <a:solidFill>
            <a:srgbClr val="EEF4F5"/>
          </a:solidFill>
          <a:ln/>
          <a:effectLst>
            <a:outerShdw sx="100000" sy="100000" kx="0" ky="0" algn="bl" rotWithShape="0" blurRad="88900" dist="38100" dir="5400000">
              <a:srgbClr val="000000">
                <a:alpha val="13000"/>
              </a:srgbClr>
            </a:outerShdw>
          </a:effectLst>
        </p:spPr>
      </p:sp>
      <p:sp>
        <p:nvSpPr>
          <p:cNvPr id="7" name="Text 5"/>
          <p:cNvSpPr/>
          <p:nvPr/>
        </p:nvSpPr>
        <p:spPr>
          <a:xfrm>
            <a:off x="6766560" y="2103120"/>
            <a:ext cx="4480560" cy="320040"/>
          </a:xfrm>
          <a:prstGeom prst="rect">
            <a:avLst/>
          </a:prstGeom>
          <a:noFill/>
          <a:ln/>
        </p:spPr>
        <p:txBody>
          <a:bodyPr wrap="square" lIns="0" tIns="0" rIns="0" bIns="0" rtlCol="0" anchor="ctr"/>
          <a:lstStyle/>
          <a:p>
            <a:pPr indent="0" marL="0">
              <a:buNone/>
            </a:pPr>
            <a:r>
              <a:rPr lang="en-US" sz="1300" b="1" spc="200" kern="0" dirty="0">
                <a:solidFill>
                  <a:srgbClr val="C8922A"/>
                </a:solidFill>
                <a:latin typeface="Arial" pitchFamily="34" charset="0"/>
                <a:ea typeface="Arial" pitchFamily="34" charset="-122"/>
                <a:cs typeface="Arial" pitchFamily="34" charset="-120"/>
              </a:rPr>
              <a:t>HONEST CAVEAT</a:t>
            </a:r>
            <a:endParaRPr lang="en-US" sz="1300" dirty="0"/>
          </a:p>
        </p:txBody>
      </p:sp>
      <p:sp>
        <p:nvSpPr>
          <p:cNvPr id="8" name="Text 6"/>
          <p:cNvSpPr/>
          <p:nvPr/>
        </p:nvSpPr>
        <p:spPr>
          <a:xfrm>
            <a:off x="6766560" y="2468880"/>
            <a:ext cx="4480560" cy="1188720"/>
          </a:xfrm>
          <a:prstGeom prst="rect">
            <a:avLst/>
          </a:prstGeom>
          <a:noFill/>
          <a:ln/>
        </p:spPr>
        <p:txBody>
          <a:bodyPr wrap="square" lIns="0" tIns="0" rIns="0" bIns="0" rtlCol="0" anchor="t"/>
          <a:lstStyle/>
          <a:p>
            <a:pPr indent="0" marL="0">
              <a:lnSpc>
                <a:spcPct val="112000"/>
              </a:lnSpc>
              <a:buNone/>
            </a:pPr>
            <a:r>
              <a:rPr lang="en-US" sz="1500" dirty="0">
                <a:solidFill>
                  <a:srgbClr val="12343B"/>
                </a:solidFill>
                <a:latin typeface="Arial" pitchFamily="34" charset="0"/>
                <a:ea typeface="Arial" pitchFamily="34" charset="-122"/>
                <a:cs typeface="Arial" pitchFamily="34" charset="-120"/>
              </a:rPr>
              <a:t>Nucleus-level Wilcoxon </a:t>
            </a:r>
            <a:pPr indent="0" marL="0">
              <a:lnSpc>
                <a:spcPct val="112000"/>
              </a:lnSpc>
              <a:buNone/>
            </a:pPr>
            <a:r>
              <a:rPr lang="en-US" sz="1500" b="1" i="1" dirty="0">
                <a:solidFill>
                  <a:srgbClr val="12343B"/>
                </a:solidFill>
                <a:latin typeface="Arial" pitchFamily="34" charset="0"/>
                <a:ea typeface="Arial" pitchFamily="34" charset="-122"/>
                <a:cs typeface="Arial" pitchFamily="34" charset="-120"/>
              </a:rPr>
              <a:t>pseudoreplicates</a:t>
            </a:r>
            <a:pPr indent="0" marL="0">
              <a:lnSpc>
                <a:spcPct val="112000"/>
              </a:lnSpc>
              <a:buNone/>
            </a:pPr>
            <a:r>
              <a:rPr lang="en-US" sz="1500" dirty="0">
                <a:solidFill>
                  <a:srgbClr val="12343B"/>
                </a:solidFill>
                <a:latin typeface="Arial" pitchFamily="34" charset="0"/>
                <a:ea typeface="Arial" pitchFamily="34" charset="-122"/>
                <a:cs typeface="Arial" pitchFamily="34" charset="-120"/>
              </a:rPr>
              <a:t> — nuclei from one donor are not independent, inflating “significant” DEG counts.</a:t>
            </a:r>
            <a:endParaRPr lang="en-US" sz="1500" dirty="0"/>
          </a:p>
        </p:txBody>
      </p:sp>
      <p:sp>
        <p:nvSpPr>
          <p:cNvPr id="9" name="Text 7"/>
          <p:cNvSpPr/>
          <p:nvPr/>
        </p:nvSpPr>
        <p:spPr>
          <a:xfrm>
            <a:off x="6766560" y="3657600"/>
            <a:ext cx="4480560" cy="1097280"/>
          </a:xfrm>
          <a:prstGeom prst="rect">
            <a:avLst/>
          </a:prstGeom>
          <a:noFill/>
          <a:ln/>
        </p:spPr>
        <p:txBody>
          <a:bodyPr wrap="square" lIns="0" tIns="0" rIns="0" bIns="0" rtlCol="0" anchor="t"/>
          <a:lstStyle/>
          <a:p>
            <a:pPr indent="0" marL="0">
              <a:lnSpc>
                <a:spcPct val="112000"/>
              </a:lnSpc>
              <a:buNone/>
            </a:pPr>
            <a:r>
              <a:rPr lang="en-US" sz="1500" b="1" dirty="0">
                <a:solidFill>
                  <a:srgbClr val="12343B"/>
                </a:solidFill>
                <a:latin typeface="Arial" pitchFamily="34" charset="0"/>
                <a:ea typeface="Arial" pitchFamily="34" charset="-122"/>
                <a:cs typeface="Arial" pitchFamily="34" charset="-120"/>
              </a:rPr>
              <a:t>Fix: </a:t>
            </a:r>
            <a:pPr indent="0" marL="0">
              <a:lnSpc>
                <a:spcPct val="112000"/>
              </a:lnSpc>
              <a:buNone/>
            </a:pPr>
            <a:r>
              <a:rPr lang="en-US" sz="1500" dirty="0">
                <a:solidFill>
                  <a:srgbClr val="12343B"/>
                </a:solidFill>
                <a:latin typeface="Arial" pitchFamily="34" charset="0"/>
                <a:ea typeface="Arial" pitchFamily="34" charset="-122"/>
                <a:cs typeface="Arial" pitchFamily="34" charset="-120"/>
              </a:rPr>
              <a:t>all definitive donor-level statistics downstream use </a:t>
            </a:r>
            <a:pPr indent="0" marL="0">
              <a:lnSpc>
                <a:spcPct val="112000"/>
              </a:lnSpc>
              <a:buNone/>
            </a:pPr>
            <a:r>
              <a:rPr lang="en-US" sz="1500" b="1" dirty="0">
                <a:solidFill>
                  <a:srgbClr val="0E7C86"/>
                </a:solidFill>
                <a:latin typeface="Arial" pitchFamily="34" charset="0"/>
                <a:ea typeface="Arial" pitchFamily="34" charset="-122"/>
                <a:cs typeface="Arial" pitchFamily="34" charset="-120"/>
              </a:rPr>
              <a:t>pseudobulk</a:t>
            </a:r>
            <a:pPr indent="0" marL="0">
              <a:lnSpc>
                <a:spcPct val="112000"/>
              </a:lnSpc>
              <a:buNone/>
            </a:pPr>
            <a:r>
              <a:rPr lang="en-US" sz="1500" dirty="0">
                <a:solidFill>
                  <a:srgbClr val="12343B"/>
                </a:solidFill>
                <a:latin typeface="Arial" pitchFamily="34" charset="0"/>
                <a:ea typeface="Arial" pitchFamily="34" charset="-122"/>
                <a:cs typeface="Arial" pitchFamily="34" charset="-120"/>
              </a:rPr>
              <a:t> — exactly why the authors did too.</a:t>
            </a:r>
            <a:endParaRPr lang="en-US" sz="1500" dirty="0"/>
          </a:p>
        </p:txBody>
      </p:sp>
      <p:sp>
        <p:nvSpPr>
          <p:cNvPr id="10" name="Text 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B · COMMUNICATION</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From ligand–receptor scores to 5 programs</a:t>
            </a:r>
            <a:endParaRPr lang="en-US" sz="3000" dirty="0"/>
          </a:p>
        </p:txBody>
      </p:sp>
      <p:sp>
        <p:nvSpPr>
          <p:cNvPr id="4" name="Shape 2"/>
          <p:cNvSpPr/>
          <p:nvPr/>
        </p:nvSpPr>
        <p:spPr>
          <a:xfrm>
            <a:off x="548640" y="2103120"/>
            <a:ext cx="2567178" cy="2926080"/>
          </a:xfrm>
          <a:prstGeom prst="roundRect">
            <a:avLst>
              <a:gd name="adj" fmla="val 2493"/>
            </a:avLst>
          </a:prstGeom>
          <a:solidFill>
            <a:srgbClr val="EEF4F5"/>
          </a:solidFill>
          <a:ln/>
          <a:effectLst>
            <a:outerShdw sx="100000" sy="100000" kx="0" ky="0" algn="bl" rotWithShape="0" blurRad="88900" dist="38100" dir="5400000">
              <a:srgbClr val="000000">
                <a:alpha val="13000"/>
              </a:srgbClr>
            </a:outerShdw>
          </a:effectLst>
        </p:spPr>
      </p:sp>
      <p:sp>
        <p:nvSpPr>
          <p:cNvPr id="5" name="Text 3"/>
          <p:cNvSpPr/>
          <p:nvPr/>
        </p:nvSpPr>
        <p:spPr>
          <a:xfrm>
            <a:off x="731520" y="2286000"/>
            <a:ext cx="548640" cy="457200"/>
          </a:xfrm>
          <a:prstGeom prst="rect">
            <a:avLst/>
          </a:prstGeom>
          <a:noFill/>
          <a:ln/>
        </p:spPr>
        <p:txBody>
          <a:bodyPr wrap="square" lIns="0" tIns="0" rIns="0" bIns="0" rtlCol="0" anchor="ctr"/>
          <a:lstStyle/>
          <a:p>
            <a:pPr indent="0" marL="0">
              <a:buNone/>
            </a:pPr>
            <a:r>
              <a:rPr lang="en-US" sz="2200" b="1" dirty="0">
                <a:solidFill>
                  <a:srgbClr val="8A4FA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731520" y="2816352"/>
            <a:ext cx="2201418" cy="640080"/>
          </a:xfrm>
          <a:prstGeom prst="rect">
            <a:avLst/>
          </a:prstGeom>
          <a:noFill/>
          <a:ln/>
        </p:spPr>
        <p:txBody>
          <a:bodyPr wrap="square" lIns="0" tIns="0" rIns="0" bIns="0" rtlCol="0" anchor="t"/>
          <a:lstStyle/>
          <a:p>
            <a:pPr indent="0" marL="0">
              <a:buNone/>
            </a:pPr>
            <a:r>
              <a:rPr lang="en-US" sz="1450" b="1" dirty="0">
                <a:solidFill>
                  <a:srgbClr val="12343B"/>
                </a:solidFill>
                <a:latin typeface="Arial" pitchFamily="34" charset="0"/>
                <a:ea typeface="Arial" pitchFamily="34" charset="-122"/>
                <a:cs typeface="Arial" pitchFamily="34" charset="-120"/>
              </a:rPr>
              <a:t>Per-donor LIANA</a:t>
            </a:r>
            <a:endParaRPr lang="en-US" sz="1450" dirty="0"/>
          </a:p>
        </p:txBody>
      </p:sp>
      <p:sp>
        <p:nvSpPr>
          <p:cNvPr id="7" name="Text 5"/>
          <p:cNvSpPr/>
          <p:nvPr/>
        </p:nvSpPr>
        <p:spPr>
          <a:xfrm>
            <a:off x="731520" y="3474720"/>
            <a:ext cx="2201418" cy="1417320"/>
          </a:xfrm>
          <a:prstGeom prst="rect">
            <a:avLst/>
          </a:prstGeom>
          <a:noFill/>
          <a:ln/>
        </p:spPr>
        <p:txBody>
          <a:bodyPr wrap="square" lIns="0" tIns="0" rIns="0" bIns="0" rtlCol="0" anchor="t"/>
          <a:lstStyle/>
          <a:p>
            <a:pPr indent="0" marL="0">
              <a:lnSpc>
                <a:spcPct val="108000"/>
              </a:lnSpc>
              <a:buNone/>
            </a:pPr>
            <a:r>
              <a:rPr lang="en-US" sz="1150" dirty="0">
                <a:solidFill>
                  <a:srgbClr val="5A6B72"/>
                </a:solidFill>
                <a:latin typeface="Arial" pitchFamily="34" charset="0"/>
                <a:ea typeface="Arial" pitchFamily="34" charset="-122"/>
                <a:cs typeface="Arial" pitchFamily="34" charset="-120"/>
              </a:rPr>
              <a:t>rank_aggregate.by_sample gives each of the 71 donors its own L–R scores (not per-condition, which would be degenerate).</a:t>
            </a:r>
            <a:endParaRPr lang="en-US" sz="1150" dirty="0"/>
          </a:p>
        </p:txBody>
      </p:sp>
      <p:sp>
        <p:nvSpPr>
          <p:cNvPr id="8" name="Shape 6"/>
          <p:cNvSpPr/>
          <p:nvPr/>
        </p:nvSpPr>
        <p:spPr>
          <a:xfrm>
            <a:off x="3390138" y="2103120"/>
            <a:ext cx="2567178" cy="2926080"/>
          </a:xfrm>
          <a:prstGeom prst="roundRect">
            <a:avLst>
              <a:gd name="adj" fmla="val 2493"/>
            </a:avLst>
          </a:prstGeom>
          <a:solidFill>
            <a:srgbClr val="EEF4F5"/>
          </a:solidFill>
          <a:ln/>
          <a:effectLst>
            <a:outerShdw sx="100000" sy="100000" kx="0" ky="0" algn="bl" rotWithShape="0" blurRad="88900" dist="38100" dir="5400000">
              <a:srgbClr val="000000">
                <a:alpha val="13000"/>
              </a:srgbClr>
            </a:outerShdw>
          </a:effectLst>
        </p:spPr>
      </p:sp>
      <p:sp>
        <p:nvSpPr>
          <p:cNvPr id="9" name="Text 7"/>
          <p:cNvSpPr/>
          <p:nvPr/>
        </p:nvSpPr>
        <p:spPr>
          <a:xfrm>
            <a:off x="3573018" y="2286000"/>
            <a:ext cx="548640" cy="457200"/>
          </a:xfrm>
          <a:prstGeom prst="rect">
            <a:avLst/>
          </a:prstGeom>
          <a:noFill/>
          <a:ln/>
        </p:spPr>
        <p:txBody>
          <a:bodyPr wrap="square" lIns="0" tIns="0" rIns="0" bIns="0" rtlCol="0" anchor="ctr"/>
          <a:lstStyle/>
          <a:p>
            <a:pPr indent="0" marL="0">
              <a:buNone/>
            </a:pPr>
            <a:r>
              <a:rPr lang="en-US" sz="2200" b="1" dirty="0">
                <a:solidFill>
                  <a:srgbClr val="8A4FA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3573018" y="2816352"/>
            <a:ext cx="2201418" cy="640080"/>
          </a:xfrm>
          <a:prstGeom prst="rect">
            <a:avLst/>
          </a:prstGeom>
          <a:noFill/>
          <a:ln/>
        </p:spPr>
        <p:txBody>
          <a:bodyPr wrap="square" lIns="0" tIns="0" rIns="0" bIns="0" rtlCol="0" anchor="t"/>
          <a:lstStyle/>
          <a:p>
            <a:pPr indent="0" marL="0">
              <a:buNone/>
            </a:pPr>
            <a:r>
              <a:rPr lang="en-US" sz="1450" b="1" dirty="0">
                <a:solidFill>
                  <a:srgbClr val="12343B"/>
                </a:solidFill>
                <a:latin typeface="Arial" pitchFamily="34" charset="0"/>
                <a:ea typeface="Arial" pitchFamily="34" charset="-122"/>
                <a:cs typeface="Arial" pitchFamily="34" charset="-120"/>
              </a:rPr>
              <a:t>4D tensor</a:t>
            </a:r>
            <a:endParaRPr lang="en-US" sz="1450" dirty="0"/>
          </a:p>
        </p:txBody>
      </p:sp>
      <p:sp>
        <p:nvSpPr>
          <p:cNvPr id="11" name="Text 9"/>
          <p:cNvSpPr/>
          <p:nvPr/>
        </p:nvSpPr>
        <p:spPr>
          <a:xfrm>
            <a:off x="3573018" y="3474720"/>
            <a:ext cx="2201418" cy="1417320"/>
          </a:xfrm>
          <a:prstGeom prst="rect">
            <a:avLst/>
          </a:prstGeom>
          <a:noFill/>
          <a:ln/>
        </p:spPr>
        <p:txBody>
          <a:bodyPr wrap="square" lIns="0" tIns="0" rIns="0" bIns="0" rtlCol="0" anchor="t"/>
          <a:lstStyle/>
          <a:p>
            <a:pPr indent="0" marL="0">
              <a:lnSpc>
                <a:spcPct val="108000"/>
              </a:lnSpc>
              <a:buNone/>
            </a:pPr>
            <a:r>
              <a:rPr lang="en-US" sz="1150" dirty="0">
                <a:solidFill>
                  <a:srgbClr val="5A6B72"/>
                </a:solidFill>
                <a:latin typeface="Arial" pitchFamily="34" charset="0"/>
                <a:ea typeface="Arial" pitchFamily="34" charset="-122"/>
                <a:cs typeface="Arial" pitchFamily="34" charset="-120"/>
              </a:rPr>
              <a:t>71 donors × 1650 L–R pairs × 8 senders × 8 receivers.  Masked slices left as NaN (borrow strength, not impute).</a:t>
            </a:r>
            <a:endParaRPr lang="en-US" sz="1150" dirty="0"/>
          </a:p>
        </p:txBody>
      </p:sp>
      <p:sp>
        <p:nvSpPr>
          <p:cNvPr id="12" name="Shape 10"/>
          <p:cNvSpPr/>
          <p:nvPr/>
        </p:nvSpPr>
        <p:spPr>
          <a:xfrm>
            <a:off x="6231636" y="2103120"/>
            <a:ext cx="2567178" cy="2926080"/>
          </a:xfrm>
          <a:prstGeom prst="roundRect">
            <a:avLst>
              <a:gd name="adj" fmla="val 2493"/>
            </a:avLst>
          </a:prstGeom>
          <a:solidFill>
            <a:srgbClr val="F3ECF7"/>
          </a:solidFill>
          <a:ln/>
          <a:effectLst>
            <a:outerShdw sx="100000" sy="100000" kx="0" ky="0" algn="bl" rotWithShape="0" blurRad="88900" dist="38100" dir="5400000">
              <a:srgbClr val="000000">
                <a:alpha val="13000"/>
              </a:srgbClr>
            </a:outerShdw>
          </a:effectLst>
        </p:spPr>
      </p:sp>
      <p:sp>
        <p:nvSpPr>
          <p:cNvPr id="13" name="Text 11"/>
          <p:cNvSpPr/>
          <p:nvPr/>
        </p:nvSpPr>
        <p:spPr>
          <a:xfrm>
            <a:off x="6414516" y="2286000"/>
            <a:ext cx="548640" cy="457200"/>
          </a:xfrm>
          <a:prstGeom prst="rect">
            <a:avLst/>
          </a:prstGeom>
          <a:noFill/>
          <a:ln/>
        </p:spPr>
        <p:txBody>
          <a:bodyPr wrap="square" lIns="0" tIns="0" rIns="0" bIns="0" rtlCol="0" anchor="ctr"/>
          <a:lstStyle/>
          <a:p>
            <a:pPr indent="0" marL="0">
              <a:buNone/>
            </a:pPr>
            <a:r>
              <a:rPr lang="en-US" sz="2200" b="1" dirty="0">
                <a:solidFill>
                  <a:srgbClr val="8A4FAF"/>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6414516" y="2816352"/>
            <a:ext cx="2201418" cy="640080"/>
          </a:xfrm>
          <a:prstGeom prst="rect">
            <a:avLst/>
          </a:prstGeom>
          <a:noFill/>
          <a:ln/>
        </p:spPr>
        <p:txBody>
          <a:bodyPr wrap="square" lIns="0" tIns="0" rIns="0" bIns="0" rtlCol="0" anchor="t"/>
          <a:lstStyle/>
          <a:p>
            <a:pPr indent="0" marL="0">
              <a:buNone/>
            </a:pPr>
            <a:r>
              <a:rPr lang="en-US" sz="1450" b="1" dirty="0">
                <a:solidFill>
                  <a:srgbClr val="12343B"/>
                </a:solidFill>
                <a:latin typeface="Arial" pitchFamily="34" charset="0"/>
                <a:ea typeface="Arial" pitchFamily="34" charset="-122"/>
                <a:cs typeface="Arial" pitchFamily="34" charset="-120"/>
              </a:rPr>
              <a:t>−log10 magnitude</a:t>
            </a:r>
            <a:endParaRPr lang="en-US" sz="1450" dirty="0"/>
          </a:p>
        </p:txBody>
      </p:sp>
      <p:sp>
        <p:nvSpPr>
          <p:cNvPr id="15" name="Text 13"/>
          <p:cNvSpPr/>
          <p:nvPr/>
        </p:nvSpPr>
        <p:spPr>
          <a:xfrm>
            <a:off x="6414516" y="3474720"/>
            <a:ext cx="2201418" cy="1417320"/>
          </a:xfrm>
          <a:prstGeom prst="rect">
            <a:avLst/>
          </a:prstGeom>
          <a:noFill/>
          <a:ln/>
        </p:spPr>
        <p:txBody>
          <a:bodyPr wrap="square" lIns="0" tIns="0" rIns="0" bIns="0" rtlCol="0" anchor="t"/>
          <a:lstStyle/>
          <a:p>
            <a:pPr indent="0" marL="0">
              <a:lnSpc>
                <a:spcPct val="108000"/>
              </a:lnSpc>
              <a:buNone/>
            </a:pPr>
            <a:r>
              <a:rPr lang="en-US" sz="1150" dirty="0">
                <a:solidFill>
                  <a:srgbClr val="5A6B72"/>
                </a:solidFill>
                <a:latin typeface="Arial" pitchFamily="34" charset="0"/>
                <a:ea typeface="Arial" pitchFamily="34" charset="-122"/>
                <a:cs typeface="Arial" pitchFamily="34" charset="-120"/>
              </a:rPr>
              <a:t>magnitude_rank (small = strong) transformed so large = strong, matching LIANA's convention.</a:t>
            </a:r>
            <a:endParaRPr lang="en-US" sz="1150" dirty="0"/>
          </a:p>
        </p:txBody>
      </p:sp>
      <p:sp>
        <p:nvSpPr>
          <p:cNvPr id="16" name="Shape 14"/>
          <p:cNvSpPr/>
          <p:nvPr/>
        </p:nvSpPr>
        <p:spPr>
          <a:xfrm>
            <a:off x="9073134" y="2103120"/>
            <a:ext cx="2567178" cy="2926080"/>
          </a:xfrm>
          <a:prstGeom prst="roundRect">
            <a:avLst>
              <a:gd name="adj" fmla="val 2493"/>
            </a:avLst>
          </a:prstGeom>
          <a:solidFill>
            <a:srgbClr val="EEF4F5"/>
          </a:solidFill>
          <a:ln/>
          <a:effectLst>
            <a:outerShdw sx="100000" sy="100000" kx="0" ky="0" algn="bl" rotWithShape="0" blurRad="88900" dist="38100" dir="5400000">
              <a:srgbClr val="000000">
                <a:alpha val="13000"/>
              </a:srgbClr>
            </a:outerShdw>
          </a:effectLst>
        </p:spPr>
      </p:sp>
      <p:sp>
        <p:nvSpPr>
          <p:cNvPr id="17" name="Text 15"/>
          <p:cNvSpPr/>
          <p:nvPr/>
        </p:nvSpPr>
        <p:spPr>
          <a:xfrm>
            <a:off x="9256014" y="2286000"/>
            <a:ext cx="548640" cy="457200"/>
          </a:xfrm>
          <a:prstGeom prst="rect">
            <a:avLst/>
          </a:prstGeom>
          <a:noFill/>
          <a:ln/>
        </p:spPr>
        <p:txBody>
          <a:bodyPr wrap="square" lIns="0" tIns="0" rIns="0" bIns="0" rtlCol="0" anchor="ctr"/>
          <a:lstStyle/>
          <a:p>
            <a:pPr indent="0" marL="0">
              <a:buNone/>
            </a:pPr>
            <a:r>
              <a:rPr lang="en-US" sz="2200" b="1" dirty="0">
                <a:solidFill>
                  <a:srgbClr val="8A4FAF"/>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9256014" y="2816352"/>
            <a:ext cx="2201418" cy="640080"/>
          </a:xfrm>
          <a:prstGeom prst="rect">
            <a:avLst/>
          </a:prstGeom>
          <a:noFill/>
          <a:ln/>
        </p:spPr>
        <p:txBody>
          <a:bodyPr wrap="square" lIns="0" tIns="0" rIns="0" bIns="0" rtlCol="0" anchor="t"/>
          <a:lstStyle/>
          <a:p>
            <a:pPr indent="0" marL="0">
              <a:buNone/>
            </a:pPr>
            <a:r>
              <a:rPr lang="en-US" sz="1450" b="1" dirty="0">
                <a:solidFill>
                  <a:srgbClr val="12343B"/>
                </a:solidFill>
                <a:latin typeface="Arial" pitchFamily="34" charset="0"/>
                <a:ea typeface="Arial" pitchFamily="34" charset="-122"/>
                <a:cs typeface="Arial" pitchFamily="34" charset="-120"/>
              </a:rPr>
              <a:t>Non-negative CP</a:t>
            </a:r>
            <a:endParaRPr lang="en-US" sz="1450" dirty="0"/>
          </a:p>
        </p:txBody>
      </p:sp>
      <p:sp>
        <p:nvSpPr>
          <p:cNvPr id="19" name="Text 17"/>
          <p:cNvSpPr/>
          <p:nvPr/>
        </p:nvSpPr>
        <p:spPr>
          <a:xfrm>
            <a:off x="9256014" y="3474720"/>
            <a:ext cx="2201418" cy="1417320"/>
          </a:xfrm>
          <a:prstGeom prst="rect">
            <a:avLst/>
          </a:prstGeom>
          <a:noFill/>
          <a:ln/>
        </p:spPr>
        <p:txBody>
          <a:bodyPr wrap="square" lIns="0" tIns="0" rIns="0" bIns="0" rtlCol="0" anchor="t"/>
          <a:lstStyle/>
          <a:p>
            <a:pPr indent="0" marL="0">
              <a:lnSpc>
                <a:spcPct val="108000"/>
              </a:lnSpc>
              <a:buNone/>
            </a:pPr>
            <a:r>
              <a:rPr lang="en-US" sz="1150" dirty="0">
                <a:solidFill>
                  <a:srgbClr val="5A6B72"/>
                </a:solidFill>
                <a:latin typeface="Arial" pitchFamily="34" charset="0"/>
                <a:ea typeface="Arial" pitchFamily="34" charset="-122"/>
                <a:cs typeface="Arial" pitchFamily="34" charset="-120"/>
              </a:rPr>
              <a:t>PARAFAC, elbow-selected rank 5 → five communication programs; a donor's loading = how active that program is.</a:t>
            </a:r>
            <a:endParaRPr lang="en-US" sz="1150" dirty="0"/>
          </a:p>
        </p:txBody>
      </p:sp>
      <p:sp>
        <p:nvSpPr>
          <p:cNvPr id="20" name="Text 18"/>
          <p:cNvSpPr/>
          <p:nvPr/>
        </p:nvSpPr>
        <p:spPr>
          <a:xfrm>
            <a:off x="548640" y="5532120"/>
            <a:ext cx="10789920" cy="457200"/>
          </a:xfrm>
          <a:prstGeom prst="rect">
            <a:avLst/>
          </a:prstGeom>
          <a:noFill/>
          <a:ln/>
        </p:spPr>
        <p:txBody>
          <a:bodyPr wrap="square" lIns="0" tIns="0" rIns="0" bIns="0" rtlCol="0" anchor="ctr"/>
          <a:lstStyle/>
          <a:p>
            <a:pPr indent="0" marL="0">
              <a:buNone/>
            </a:pPr>
            <a:r>
              <a:rPr lang="en-US" sz="1400" b="1" i="1" dirty="0">
                <a:solidFill>
                  <a:srgbClr val="8A4FAF"/>
                </a:solidFill>
                <a:latin typeface="Arial" pitchFamily="34" charset="0"/>
                <a:ea typeface="Arial" pitchFamily="34" charset="-122"/>
                <a:cs typeface="Arial" pitchFamily="34" charset="-120"/>
              </a:rPr>
              <a:t>Methodology shift: </a:t>
            </a:r>
            <a:pPr indent="0" marL="0">
              <a:buNone/>
            </a:pPr>
            <a:r>
              <a:rPr lang="en-US" sz="1400" i="1" dirty="0">
                <a:solidFill>
                  <a:srgbClr val="5A6B72"/>
                </a:solidFill>
                <a:latin typeface="Arial" pitchFamily="34" charset="0"/>
                <a:ea typeface="Arial" pitchFamily="34" charset="-122"/>
                <a:cs typeface="Arial" pitchFamily="34" charset="-120"/>
              </a:rPr>
              <a:t>LIANA (Python) instead of CellChat (R) — native per-donor inference, no fragile rpy2 setup.</a:t>
            </a:r>
            <a:endParaRPr lang="en-US" sz="1400" dirty="0"/>
          </a:p>
        </p:txBody>
      </p:sp>
      <p:sp>
        <p:nvSpPr>
          <p:cNvPr id="21" name="Text 19"/>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B · THE FIVE PROGRAMS</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One program is diagnosis-leaning and cohort-clean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1005840"/>
                <a:gridCol w="3657600"/>
                <a:gridCol w="1828800"/>
                <a:gridCol w="1828800"/>
                <a:gridCol w="2743200"/>
              </a:tblGrid>
              <a:tr h="45720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Factor</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Program (sender → receiver)</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p(diagnosis)</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p(sex/cohort)</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note</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r>
              <a:tr h="457200">
                <a:tc>
                  <a:txBody>
                    <a:bodyPr/>
                    <a:lstStyle/>
                    <a:p>
                      <a:pPr algn="ctr" indent="0" marL="0">
                        <a:buNone/>
                      </a:pPr>
                      <a:r>
                        <a:rPr lang="en-US" sz="1400" b="1" dirty="0">
                          <a:solidFill>
                            <a:srgbClr val="12343B"/>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dirty="0">
                          <a:solidFill>
                            <a:srgbClr val="12343B"/>
                          </a:solidFill>
                          <a:latin typeface="Arial" pitchFamily="34" charset="0"/>
                          <a:ea typeface="Arial" pitchFamily="34" charset="-122"/>
                          <a:cs typeface="Arial" pitchFamily="34" charset="-120"/>
                        </a:rPr>
                        <a:t>ExN → ExN</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2343B"/>
                          </a:solidFill>
                          <a:latin typeface="Arial" pitchFamily="34" charset="0"/>
                          <a:ea typeface="Arial" pitchFamily="34" charset="-122"/>
                          <a:cs typeface="Arial" pitchFamily="34" charset="-120"/>
                        </a:rPr>
                        <a:t>0.348</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A6B72"/>
                          </a:solidFill>
                          <a:latin typeface="Arial" pitchFamily="34" charset="0"/>
                          <a:ea typeface="Arial" pitchFamily="34" charset="-122"/>
                          <a:cs typeface="Arial" pitchFamily="34" charset="-120"/>
                        </a:rPr>
                        <a:t>0.778</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i="1" dirty="0">
                          <a:solidFill>
                            <a:srgbClr val="12343B"/>
                          </a:solidFill>
                          <a:latin typeface="Arial" pitchFamily="34" charset="0"/>
                          <a:ea typeface="Arial" pitchFamily="34" charset="-122"/>
                          <a:cs typeface="Arial" pitchFamily="34" charset="-120"/>
                        </a:rPr>
                        <a:t>no signal</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2343B"/>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dirty="0">
                          <a:solidFill>
                            <a:srgbClr val="12343B"/>
                          </a:solidFill>
                          <a:latin typeface="Arial" pitchFamily="34" charset="0"/>
                          <a:ea typeface="Arial" pitchFamily="34" charset="-122"/>
                          <a:cs typeface="Arial" pitchFamily="34" charset="-120"/>
                        </a:rPr>
                        <a:t>ExN → Ast/OPC</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2343B"/>
                          </a:solidFill>
                          <a:latin typeface="Arial" pitchFamily="34" charset="0"/>
                          <a:ea typeface="Arial" pitchFamily="34" charset="-122"/>
                          <a:cs typeface="Arial" pitchFamily="34" charset="-120"/>
                        </a:rPr>
                        <a:t>0.398</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A6B72"/>
                          </a:solidFill>
                          <a:latin typeface="Arial" pitchFamily="34" charset="0"/>
                          <a:ea typeface="Arial" pitchFamily="34" charset="-122"/>
                          <a:cs typeface="Arial" pitchFamily="34" charset="-120"/>
                        </a:rPr>
                        <a:t>0.0025</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i="1" dirty="0">
                          <a:solidFill>
                            <a:srgbClr val="12343B"/>
                          </a:solidFill>
                          <a:latin typeface="Arial" pitchFamily="34" charset="0"/>
                          <a:ea typeface="Arial" pitchFamily="34" charset="-122"/>
                          <a:cs typeface="Arial" pitchFamily="34" charset="-120"/>
                        </a:rPr>
                        <a:t>cohort/batch</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2343B"/>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dirty="0">
                          <a:solidFill>
                            <a:srgbClr val="12343B"/>
                          </a:solidFill>
                          <a:latin typeface="Arial" pitchFamily="34" charset="0"/>
                          <a:ea typeface="Arial" pitchFamily="34" charset="-122"/>
                          <a:cs typeface="Arial" pitchFamily="34" charset="-120"/>
                        </a:rPr>
                        <a:t>OPC/Ast → mixed</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2343B"/>
                          </a:solidFill>
                          <a:latin typeface="Arial" pitchFamily="34" charset="0"/>
                          <a:ea typeface="Arial" pitchFamily="34" charset="-122"/>
                          <a:cs typeface="Arial" pitchFamily="34" charset="-120"/>
                        </a:rPr>
                        <a:t>0.479</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A6B72"/>
                          </a:solidFill>
                          <a:latin typeface="Arial" pitchFamily="34" charset="0"/>
                          <a:ea typeface="Arial" pitchFamily="34" charset="-122"/>
                          <a:cs typeface="Arial" pitchFamily="34" charset="-120"/>
                        </a:rPr>
                        <a:t>0.0002</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i="1" dirty="0">
                          <a:solidFill>
                            <a:srgbClr val="12343B"/>
                          </a:solidFill>
                          <a:latin typeface="Arial" pitchFamily="34" charset="0"/>
                          <a:ea typeface="Arial" pitchFamily="34" charset="-122"/>
                          <a:cs typeface="Arial" pitchFamily="34" charset="-120"/>
                        </a:rPr>
                        <a:t>cohort/batch</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C0392B"/>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BEDEB"/>
                    </a:solidFill>
                  </a:tcPr>
                </a:tc>
                <a:tc>
                  <a:txBody>
                    <a:bodyPr/>
                    <a:lstStyle/>
                    <a:p>
                      <a:pPr indent="0" marL="0">
                        <a:buNone/>
                      </a:pPr>
                      <a:r>
                        <a:rPr lang="en-US" sz="1400" b="1" dirty="0">
                          <a:solidFill>
                            <a:srgbClr val="C0392B"/>
                          </a:solidFill>
                          <a:latin typeface="Arial" pitchFamily="34" charset="0"/>
                          <a:ea typeface="Arial" pitchFamily="34" charset="-122"/>
                          <a:cs typeface="Arial" pitchFamily="34" charset="-120"/>
                        </a:rPr>
                        <a:t>End + Mic → ExN10_L46</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BEDEB"/>
                    </a:solidFill>
                  </a:tcPr>
                </a:tc>
                <a:tc>
                  <a:txBody>
                    <a:bodyPr/>
                    <a:lstStyle/>
                    <a:p>
                      <a:pPr algn="ctr" indent="0" marL="0">
                        <a:buNone/>
                      </a:pPr>
                      <a:r>
                        <a:rPr lang="en-US" sz="1400" b="1" dirty="0">
                          <a:solidFill>
                            <a:srgbClr val="C0392B"/>
                          </a:solidFill>
                          <a:latin typeface="Arial" pitchFamily="34" charset="0"/>
                          <a:ea typeface="Arial" pitchFamily="34" charset="-122"/>
                          <a:cs typeface="Arial" pitchFamily="34" charset="-120"/>
                        </a:rPr>
                        <a:t>0.057</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BEDEB"/>
                    </a:solidFill>
                  </a:tcPr>
                </a:tc>
                <a:tc>
                  <a:txBody>
                    <a:bodyPr/>
                    <a:lstStyle/>
                    <a:p>
                      <a:pPr algn="ctr" indent="0" marL="0">
                        <a:buNone/>
                      </a:pPr>
                      <a:r>
                        <a:rPr lang="en-US" sz="1400" dirty="0">
                          <a:solidFill>
                            <a:srgbClr val="C0392B"/>
                          </a:solidFill>
                          <a:latin typeface="Arial" pitchFamily="34" charset="0"/>
                          <a:ea typeface="Arial" pitchFamily="34" charset="-122"/>
                          <a:cs typeface="Arial" pitchFamily="34" charset="-120"/>
                        </a:rPr>
                        <a:t>0.108</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BEDEB"/>
                    </a:solidFill>
                  </a:tcPr>
                </a:tc>
                <a:tc>
                  <a:txBody>
                    <a:bodyPr/>
                    <a:lstStyle/>
                    <a:p>
                      <a:pPr indent="0" marL="0">
                        <a:buNone/>
                      </a:pPr>
                      <a:r>
                        <a:rPr lang="en-US" sz="1400" b="1" dirty="0">
                          <a:solidFill>
                            <a:srgbClr val="C0392B"/>
                          </a:solidFill>
                          <a:latin typeface="Arial" pitchFamily="34" charset="0"/>
                          <a:ea typeface="Arial" pitchFamily="34" charset="-122"/>
                          <a:cs typeface="Arial" pitchFamily="34" charset="-120"/>
                        </a:rPr>
                        <a:t>hypothesis program</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BEDEB"/>
                    </a:solidFill>
                  </a:tcPr>
                </a:tc>
              </a:tr>
              <a:tr h="457200">
                <a:tc>
                  <a:txBody>
                    <a:bodyPr/>
                    <a:lstStyle/>
                    <a:p>
                      <a:pPr algn="ctr" indent="0" marL="0">
                        <a:buNone/>
                      </a:pPr>
                      <a:r>
                        <a:rPr lang="en-US" sz="1400" b="1" dirty="0">
                          <a:solidFill>
                            <a:srgbClr val="12343B"/>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dirty="0">
                          <a:solidFill>
                            <a:srgbClr val="12343B"/>
                          </a:solidFill>
                          <a:latin typeface="Arial" pitchFamily="34" charset="0"/>
                          <a:ea typeface="Arial" pitchFamily="34" charset="-122"/>
                          <a:cs typeface="Arial" pitchFamily="34" charset="-120"/>
                        </a:rPr>
                        <a:t>mixed → End</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2343B"/>
                          </a:solidFill>
                          <a:latin typeface="Arial" pitchFamily="34" charset="0"/>
                          <a:ea typeface="Arial" pitchFamily="34" charset="-122"/>
                          <a:cs typeface="Arial" pitchFamily="34" charset="-120"/>
                        </a:rPr>
                        <a:t>0.886</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A6B72"/>
                          </a:solidFill>
                          <a:latin typeface="Arial" pitchFamily="34" charset="0"/>
                          <a:ea typeface="Arial" pitchFamily="34" charset="-122"/>
                          <a:cs typeface="Arial" pitchFamily="34" charset="-120"/>
                        </a:rPr>
                        <a:t>0.00002</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indent="0" marL="0">
                        <a:buNone/>
                      </a:pPr>
                      <a:r>
                        <a:rPr lang="en-US" sz="1400" i="1" dirty="0">
                          <a:solidFill>
                            <a:srgbClr val="12343B"/>
                          </a:solidFill>
                          <a:latin typeface="Arial" pitchFamily="34" charset="0"/>
                          <a:ea typeface="Arial" pitchFamily="34" charset="-122"/>
                          <a:cs typeface="Arial" pitchFamily="34" charset="-120"/>
                        </a:rPr>
                        <a:t>cohort/batch</a:t>
                      </a:r>
                      <a:endParaRPr lang="en-US" sz="14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983480"/>
            <a:ext cx="10972800" cy="1280160"/>
          </a:xfrm>
          <a:prstGeom prst="rect">
            <a:avLst/>
          </a:prstGeom>
          <a:noFill/>
          <a:ln/>
        </p:spPr>
        <p:txBody>
          <a:bodyPr wrap="square" lIns="0" tIns="0" rIns="0" bIns="0" rtlCol="0" anchor="t"/>
          <a:lstStyle/>
          <a:p>
            <a:pPr indent="0" marL="0">
              <a:lnSpc>
                <a:spcPct val="115000"/>
              </a:lnSpc>
              <a:buNone/>
            </a:pPr>
            <a:r>
              <a:rPr lang="en-US" sz="1450" b="1" dirty="0">
                <a:solidFill>
                  <a:srgbClr val="C0392B"/>
                </a:solidFill>
                <a:latin typeface="Arial" pitchFamily="34" charset="0"/>
                <a:ea typeface="Arial" pitchFamily="34" charset="-122"/>
                <a:cs typeface="Arial" pitchFamily="34" charset="-120"/>
              </a:rPr>
              <a:t>Why Factor 4:  </a:t>
            </a:r>
            <a:pPr indent="0" marL="0">
              <a:lnSpc>
                <a:spcPct val="115000"/>
              </a:lnSpc>
              <a:buNone/>
            </a:pPr>
            <a:r>
              <a:rPr lang="en-US" sz="1450" dirty="0">
                <a:solidFill>
                  <a:srgbClr val="12343B"/>
                </a:solidFill>
                <a:latin typeface="Arial" pitchFamily="34" charset="0"/>
                <a:ea typeface="Arial" pitchFamily="34" charset="-122"/>
                <a:cs typeface="Arial" pitchFamily="34" charset="-120"/>
              </a:rPr>
              <a:t>the microglia-sender × ExN10_L46-receiver product is </a:t>
            </a:r>
            <a:pPr indent="0" marL="0">
              <a:lnSpc>
                <a:spcPct val="115000"/>
              </a:lnSpc>
              <a:buNone/>
            </a:pPr>
            <a:r>
              <a:rPr lang="en-US" sz="1450" b="1" dirty="0">
                <a:solidFill>
                  <a:srgbClr val="12343B"/>
                </a:solidFill>
                <a:latin typeface="Arial" pitchFamily="34" charset="0"/>
                <a:ea typeface="Arial" pitchFamily="34" charset="-122"/>
                <a:cs typeface="Arial" pitchFamily="34" charset="-120"/>
              </a:rPr>
              <a:t>0.40 × 0.54 ≈ 0.22</a:t>
            </a:r>
            <a:pPr indent="0" marL="0">
              <a:lnSpc>
                <a:spcPct val="115000"/>
              </a:lnSpc>
              <a:buNone/>
            </a:pPr>
            <a:r>
              <a:rPr lang="en-US" sz="1450" dirty="0">
                <a:solidFill>
                  <a:srgbClr val="12343B"/>
                </a:solidFill>
                <a:latin typeface="Arial" pitchFamily="34" charset="0"/>
                <a:ea typeface="Arial" pitchFamily="34" charset="-122"/>
                <a:cs typeface="Arial" pitchFamily="34" charset="-120"/>
              </a:rPr>
              <a:t> — far above any other factor. Selected </a:t>
            </a:r>
            <a:pPr indent="0" marL="0">
              <a:lnSpc>
                <a:spcPct val="115000"/>
              </a:lnSpc>
              <a:buNone/>
            </a:pPr>
            <a:r>
              <a:rPr lang="en-US" sz="1450" i="1" dirty="0">
                <a:solidFill>
                  <a:srgbClr val="12343B"/>
                </a:solidFill>
                <a:latin typeface="Arial" pitchFamily="34" charset="0"/>
                <a:ea typeface="Arial" pitchFamily="34" charset="-122"/>
                <a:cs typeface="Arial" pitchFamily="34" charset="-120"/>
              </a:rPr>
              <a:t>a priori by biology</a:t>
            </a:r>
            <a:pPr indent="0" marL="0">
              <a:lnSpc>
                <a:spcPct val="115000"/>
              </a:lnSpc>
              <a:buNone/>
            </a:pPr>
            <a:r>
              <a:rPr lang="en-US" sz="1450" dirty="0">
                <a:solidFill>
                  <a:srgbClr val="12343B"/>
                </a:solidFill>
                <a:latin typeface="Arial" pitchFamily="34" charset="0"/>
                <a:ea typeface="Arial" pitchFamily="34" charset="-122"/>
                <a:cs typeface="Arial" pitchFamily="34" charset="-120"/>
              </a:rPr>
              <a:t>, not by p-value.  The batch confound self-segregates into Factors 2/3/5.</a:t>
            </a:r>
            <a:endParaRPr lang="en-US" sz="1450" dirty="0"/>
          </a:p>
        </p:txBody>
      </p:sp>
      <p:sp>
        <p:nvSpPr>
          <p:cNvPr id="6" name="Text 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C · MACHINE LEARNING</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Three feature sets, one decisive comparison</a:t>
            </a:r>
            <a:endParaRPr lang="en-US" sz="3000" dirty="0"/>
          </a:p>
        </p:txBody>
      </p:sp>
      <p:sp>
        <p:nvSpPr>
          <p:cNvPr id="4" name="Shape 2"/>
          <p:cNvSpPr/>
          <p:nvPr/>
        </p:nvSpPr>
        <p:spPr>
          <a:xfrm>
            <a:off x="548640" y="1874520"/>
            <a:ext cx="3514344" cy="1371600"/>
          </a:xfrm>
          <a:prstGeom prst="roundRect">
            <a:avLst>
              <a:gd name="adj" fmla="val 4667"/>
            </a:avLst>
          </a:prstGeom>
          <a:solidFill>
            <a:srgbClr val="EEF4F5"/>
          </a:solidFill>
          <a:ln/>
          <a:effectLst>
            <a:outerShdw sx="100000" sy="100000" kx="0" ky="0" algn="bl" rotWithShape="0" blurRad="88900" dist="38100" dir="5400000">
              <a:srgbClr val="000000">
                <a:alpha val="13000"/>
              </a:srgbClr>
            </a:outerShdw>
          </a:effectLst>
        </p:spPr>
      </p:sp>
      <p:sp>
        <p:nvSpPr>
          <p:cNvPr id="5" name="Text 3"/>
          <p:cNvSpPr/>
          <p:nvPr/>
        </p:nvSpPr>
        <p:spPr>
          <a:xfrm>
            <a:off x="777240" y="2057400"/>
            <a:ext cx="3057144" cy="411480"/>
          </a:xfrm>
          <a:prstGeom prst="rect">
            <a:avLst/>
          </a:prstGeom>
          <a:noFill/>
          <a:ln/>
        </p:spPr>
        <p:txBody>
          <a:bodyPr wrap="square" lIns="0" tIns="0" rIns="0" bIns="0" rtlCol="0" anchor="ctr"/>
          <a:lstStyle/>
          <a:p>
            <a:pPr indent="0" marL="0">
              <a:buNone/>
            </a:pPr>
            <a:r>
              <a:rPr lang="en-US" sz="1600" b="1" dirty="0">
                <a:solidFill>
                  <a:srgbClr val="0E7C86"/>
                </a:solidFill>
                <a:latin typeface="Arial" pitchFamily="34" charset="0"/>
                <a:ea typeface="Arial" pitchFamily="34" charset="-122"/>
                <a:cs typeface="Arial" pitchFamily="34" charset="-120"/>
              </a:rPr>
              <a:t>Expression-only</a:t>
            </a:r>
            <a:endParaRPr lang="en-US" sz="1600" dirty="0"/>
          </a:p>
        </p:txBody>
      </p:sp>
      <p:sp>
        <p:nvSpPr>
          <p:cNvPr id="6" name="Text 4"/>
          <p:cNvSpPr/>
          <p:nvPr/>
        </p:nvSpPr>
        <p:spPr>
          <a:xfrm>
            <a:off x="777240" y="2496312"/>
            <a:ext cx="3057144" cy="685800"/>
          </a:xfrm>
          <a:prstGeom prst="rect">
            <a:avLst/>
          </a:prstGeom>
          <a:noFill/>
          <a:ln/>
        </p:spPr>
        <p:txBody>
          <a:bodyPr wrap="square" lIns="0" tIns="0" rIns="0" bIns="0" rtlCol="0" anchor="t"/>
          <a:lstStyle/>
          <a:p>
            <a:pPr indent="0" marL="0">
              <a:lnSpc>
                <a:spcPct val="108000"/>
              </a:lnSpc>
              <a:buNone/>
            </a:pPr>
            <a:r>
              <a:rPr lang="en-US" sz="1250" dirty="0">
                <a:solidFill>
                  <a:srgbClr val="5A6B72"/>
                </a:solidFill>
                <a:latin typeface="Arial" pitchFamily="34" charset="0"/>
                <a:ea typeface="Arial" pitchFamily="34" charset="-122"/>
                <a:cs typeface="Arial" pitchFamily="34" charset="-120"/>
              </a:rPr>
              <a:t>Per-cell-type pseudobulk (logCPM). The baseline.</a:t>
            </a:r>
            <a:endParaRPr lang="en-US" sz="1250" dirty="0"/>
          </a:p>
        </p:txBody>
      </p:sp>
      <p:sp>
        <p:nvSpPr>
          <p:cNvPr id="7" name="Shape 5"/>
          <p:cNvSpPr/>
          <p:nvPr/>
        </p:nvSpPr>
        <p:spPr>
          <a:xfrm>
            <a:off x="4337304" y="1874520"/>
            <a:ext cx="3514344" cy="1371600"/>
          </a:xfrm>
          <a:prstGeom prst="roundRect">
            <a:avLst>
              <a:gd name="adj" fmla="val 4667"/>
            </a:avLst>
          </a:prstGeom>
          <a:solidFill>
            <a:srgbClr val="EEF4F5"/>
          </a:solidFill>
          <a:ln/>
          <a:effectLst>
            <a:outerShdw sx="100000" sy="100000" kx="0" ky="0" algn="bl" rotWithShape="0" blurRad="88900" dist="38100" dir="5400000">
              <a:srgbClr val="000000">
                <a:alpha val="13000"/>
              </a:srgbClr>
            </a:outerShdw>
          </a:effectLst>
        </p:spPr>
      </p:sp>
      <p:sp>
        <p:nvSpPr>
          <p:cNvPr id="8" name="Text 6"/>
          <p:cNvSpPr/>
          <p:nvPr/>
        </p:nvSpPr>
        <p:spPr>
          <a:xfrm>
            <a:off x="4565904" y="2057400"/>
            <a:ext cx="3057144" cy="411480"/>
          </a:xfrm>
          <a:prstGeom prst="rect">
            <a:avLst/>
          </a:prstGeom>
          <a:noFill/>
          <a:ln/>
        </p:spPr>
        <p:txBody>
          <a:bodyPr wrap="square" lIns="0" tIns="0" rIns="0" bIns="0" rtlCol="0" anchor="ctr"/>
          <a:lstStyle/>
          <a:p>
            <a:pPr indent="0" marL="0">
              <a:buNone/>
            </a:pPr>
            <a:r>
              <a:rPr lang="en-US" sz="1600" b="1" dirty="0">
                <a:solidFill>
                  <a:srgbClr val="8A4FAF"/>
                </a:solidFill>
                <a:latin typeface="Arial" pitchFamily="34" charset="0"/>
                <a:ea typeface="Arial" pitchFamily="34" charset="-122"/>
                <a:cs typeface="Arial" pitchFamily="34" charset="-120"/>
              </a:rPr>
              <a:t>Communication-only</a:t>
            </a:r>
            <a:endParaRPr lang="en-US" sz="1600" dirty="0"/>
          </a:p>
        </p:txBody>
      </p:sp>
      <p:sp>
        <p:nvSpPr>
          <p:cNvPr id="9" name="Text 7"/>
          <p:cNvSpPr/>
          <p:nvPr/>
        </p:nvSpPr>
        <p:spPr>
          <a:xfrm>
            <a:off x="4565904" y="2496312"/>
            <a:ext cx="3057144" cy="685800"/>
          </a:xfrm>
          <a:prstGeom prst="rect">
            <a:avLst/>
          </a:prstGeom>
          <a:noFill/>
          <a:ln/>
        </p:spPr>
        <p:txBody>
          <a:bodyPr wrap="square" lIns="0" tIns="0" rIns="0" bIns="0" rtlCol="0" anchor="t"/>
          <a:lstStyle/>
          <a:p>
            <a:pPr indent="0" marL="0">
              <a:lnSpc>
                <a:spcPct val="108000"/>
              </a:lnSpc>
              <a:buNone/>
            </a:pPr>
            <a:r>
              <a:rPr lang="en-US" sz="1250" dirty="0">
                <a:solidFill>
                  <a:srgbClr val="5A6B72"/>
                </a:solidFill>
                <a:latin typeface="Arial" pitchFamily="34" charset="0"/>
                <a:ea typeface="Arial" pitchFamily="34" charset="-122"/>
                <a:cs typeface="Arial" pitchFamily="34" charset="-120"/>
              </a:rPr>
              <a:t>The 5 factor loadings.</a:t>
            </a:r>
            <a:endParaRPr lang="en-US" sz="1250" dirty="0"/>
          </a:p>
        </p:txBody>
      </p:sp>
      <p:sp>
        <p:nvSpPr>
          <p:cNvPr id="10" name="Shape 8"/>
          <p:cNvSpPr/>
          <p:nvPr/>
        </p:nvSpPr>
        <p:spPr>
          <a:xfrm>
            <a:off x="8125968" y="1874520"/>
            <a:ext cx="3514344" cy="1371600"/>
          </a:xfrm>
          <a:prstGeom prst="roundRect">
            <a:avLst>
              <a:gd name="adj" fmla="val 4667"/>
            </a:avLst>
          </a:prstGeom>
          <a:solidFill>
            <a:srgbClr val="EEF4F5"/>
          </a:solidFill>
          <a:ln/>
          <a:effectLst>
            <a:outerShdw sx="100000" sy="100000" kx="0" ky="0" algn="bl" rotWithShape="0" blurRad="88900" dist="38100" dir="5400000">
              <a:srgbClr val="000000">
                <a:alpha val="13000"/>
              </a:srgbClr>
            </a:outerShdw>
          </a:effectLst>
        </p:spPr>
      </p:sp>
      <p:sp>
        <p:nvSpPr>
          <p:cNvPr id="11" name="Text 9"/>
          <p:cNvSpPr/>
          <p:nvPr/>
        </p:nvSpPr>
        <p:spPr>
          <a:xfrm>
            <a:off x="8354568" y="2057400"/>
            <a:ext cx="3057144" cy="411480"/>
          </a:xfrm>
          <a:prstGeom prst="rect">
            <a:avLst/>
          </a:prstGeom>
          <a:noFill/>
          <a:ln/>
        </p:spPr>
        <p:txBody>
          <a:bodyPr wrap="square" lIns="0" tIns="0" rIns="0" bIns="0" rtlCol="0" anchor="ctr"/>
          <a:lstStyle/>
          <a:p>
            <a:pPr indent="0" marL="0">
              <a:buNone/>
            </a:pPr>
            <a:r>
              <a:rPr lang="en-US" sz="1600" b="1" dirty="0">
                <a:solidFill>
                  <a:srgbClr val="C0392B"/>
                </a:solidFill>
                <a:latin typeface="Arial" pitchFamily="34" charset="0"/>
                <a:ea typeface="Arial" pitchFamily="34" charset="-122"/>
                <a:cs typeface="Arial" pitchFamily="34" charset="-120"/>
              </a:rPr>
              <a:t>Combined</a:t>
            </a:r>
            <a:endParaRPr lang="en-US" sz="1600" dirty="0"/>
          </a:p>
        </p:txBody>
      </p:sp>
      <p:sp>
        <p:nvSpPr>
          <p:cNvPr id="12" name="Text 10"/>
          <p:cNvSpPr/>
          <p:nvPr/>
        </p:nvSpPr>
        <p:spPr>
          <a:xfrm>
            <a:off x="8354568" y="2496312"/>
            <a:ext cx="3057144" cy="685800"/>
          </a:xfrm>
          <a:prstGeom prst="rect">
            <a:avLst/>
          </a:prstGeom>
          <a:noFill/>
          <a:ln/>
        </p:spPr>
        <p:txBody>
          <a:bodyPr wrap="square" lIns="0" tIns="0" rIns="0" bIns="0" rtlCol="0" anchor="t"/>
          <a:lstStyle/>
          <a:p>
            <a:pPr indent="0" marL="0">
              <a:lnSpc>
                <a:spcPct val="108000"/>
              </a:lnSpc>
              <a:buNone/>
            </a:pPr>
            <a:r>
              <a:rPr lang="en-US" sz="1250" dirty="0">
                <a:solidFill>
                  <a:srgbClr val="5A6B72"/>
                </a:solidFill>
                <a:latin typeface="Arial" pitchFamily="34" charset="0"/>
                <a:ea typeface="Arial" pitchFamily="34" charset="-122"/>
                <a:cs typeface="Arial" pitchFamily="34" charset="-120"/>
              </a:rPr>
              <a:t>Pseudobulk + 5 factors. The decisive test.</a:t>
            </a:r>
            <a:endParaRPr lang="en-US" sz="1250" dirty="0"/>
          </a:p>
        </p:txBody>
      </p:sp>
      <p:sp>
        <p:nvSpPr>
          <p:cNvPr id="13" name="Shape 11"/>
          <p:cNvSpPr/>
          <p:nvPr/>
        </p:nvSpPr>
        <p:spPr>
          <a:xfrm>
            <a:off x="548640" y="3474720"/>
            <a:ext cx="11091672" cy="1051560"/>
          </a:xfrm>
          <a:prstGeom prst="roundRect">
            <a:avLst>
              <a:gd name="adj" fmla="val 6087"/>
            </a:avLst>
          </a:prstGeom>
          <a:solidFill>
            <a:srgbClr val="FBEDEB"/>
          </a:solidFill>
          <a:ln/>
        </p:spPr>
      </p:sp>
      <p:sp>
        <p:nvSpPr>
          <p:cNvPr id="14" name="Text 12"/>
          <p:cNvSpPr/>
          <p:nvPr/>
        </p:nvSpPr>
        <p:spPr>
          <a:xfrm>
            <a:off x="868680" y="3611880"/>
            <a:ext cx="10451592" cy="777240"/>
          </a:xfrm>
          <a:prstGeom prst="rect">
            <a:avLst/>
          </a:prstGeom>
          <a:noFill/>
          <a:ln/>
        </p:spPr>
        <p:txBody>
          <a:bodyPr wrap="square" lIns="0" tIns="0" rIns="0" bIns="0" rtlCol="0" anchor="ctr"/>
          <a:lstStyle/>
          <a:p>
            <a:pPr indent="0" marL="0">
              <a:lnSpc>
                <a:spcPct val="112000"/>
              </a:lnSpc>
              <a:buNone/>
            </a:pPr>
            <a:r>
              <a:rPr lang="en-US" sz="1450" b="1" dirty="0">
                <a:solidFill>
                  <a:srgbClr val="12343B"/>
                </a:solidFill>
                <a:latin typeface="Arial" pitchFamily="34" charset="0"/>
                <a:ea typeface="Arial" pitchFamily="34" charset="-122"/>
                <a:cs typeface="Arial" pitchFamily="34" charset="-120"/>
              </a:rPr>
              <a:t>Communication is computed from expression </a:t>
            </a:r>
            <a:pPr indent="0" marL="0">
              <a:lnSpc>
                <a:spcPct val="112000"/>
              </a:lnSpc>
              <a:buNone/>
            </a:pPr>
            <a:r>
              <a:rPr lang="en-US" sz="1450" dirty="0">
                <a:solidFill>
                  <a:srgbClr val="12343B"/>
                </a:solidFill>
                <a:latin typeface="Arial" pitchFamily="34" charset="0"/>
                <a:ea typeface="Arial" pitchFamily="34" charset="-122"/>
                <a:cs typeface="Arial" pitchFamily="34" charset="-120"/>
              </a:rPr>
              <a:t>(a ligand's “signal” is its gene expression), so the two are not independent — which is exactly why the </a:t>
            </a:r>
            <a:pPr indent="0" marL="0">
              <a:lnSpc>
                <a:spcPct val="112000"/>
              </a:lnSpc>
              <a:buNone/>
            </a:pPr>
            <a:r>
              <a:rPr lang="en-US" sz="1450" b="1" dirty="0">
                <a:solidFill>
                  <a:srgbClr val="C0392B"/>
                </a:solidFill>
                <a:latin typeface="Arial" pitchFamily="34" charset="0"/>
                <a:ea typeface="Arial" pitchFamily="34" charset="-122"/>
                <a:cs typeface="Arial" pitchFamily="34" charset="-120"/>
              </a:rPr>
              <a:t>combined comparison is the decisive test</a:t>
            </a:r>
            <a:pPr indent="0" marL="0">
              <a:lnSpc>
                <a:spcPct val="112000"/>
              </a:lnSpc>
              <a:buNone/>
            </a:pPr>
            <a:r>
              <a:rPr lang="en-US" sz="1450" dirty="0">
                <a:solidFill>
                  <a:srgbClr val="12343B"/>
                </a:solidFill>
                <a:latin typeface="Arial" pitchFamily="34" charset="0"/>
                <a:ea typeface="Arial" pitchFamily="34" charset="-122"/>
                <a:cs typeface="Arial" pitchFamily="34" charset="-120"/>
              </a:rPr>
              <a:t> of whether communication adds anything.</a:t>
            </a:r>
            <a:endParaRPr lang="en-US" sz="1450" dirty="0"/>
          </a:p>
        </p:txBody>
      </p:sp>
      <p:sp>
        <p:nvSpPr>
          <p:cNvPr id="15" name="Text 13"/>
          <p:cNvSpPr/>
          <p:nvPr/>
        </p:nvSpPr>
        <p:spPr>
          <a:xfrm>
            <a:off x="548640" y="4754880"/>
            <a:ext cx="11091672" cy="1371600"/>
          </a:xfrm>
          <a:prstGeom prst="rect">
            <a:avLst/>
          </a:prstGeom>
          <a:noFill/>
          <a:ln/>
        </p:spPr>
        <p:txBody>
          <a:bodyPr wrap="square" lIns="0" tIns="0" rIns="0" bIns="0" rtlCol="0" anchor="t"/>
          <a:lstStyle/>
          <a:p>
            <a:pPr indent="0" marL="0">
              <a:lnSpc>
                <a:spcPct val="115000"/>
              </a:lnSpc>
              <a:buNone/>
            </a:pPr>
            <a:r>
              <a:rPr lang="en-US" sz="1400" b="1" dirty="0">
                <a:solidFill>
                  <a:srgbClr val="0E7C86"/>
                </a:solidFill>
                <a:latin typeface="Arial" pitchFamily="34" charset="0"/>
                <a:ea typeface="Arial" pitchFamily="34" charset="-122"/>
                <a:cs typeface="Arial" pitchFamily="34" charset="-120"/>
              </a:rPr>
              <a:t>Validation:  </a:t>
            </a:r>
            <a:pPr indent="0" marL="0">
              <a:lnSpc>
                <a:spcPct val="115000"/>
              </a:lnSpc>
              <a:buNone/>
            </a:pPr>
            <a:r>
              <a:rPr lang="en-US" sz="1400" dirty="0">
                <a:solidFill>
                  <a:srgbClr val="12343B"/>
                </a:solidFill>
                <a:latin typeface="Arial" pitchFamily="34" charset="0"/>
                <a:ea typeface="Arial" pitchFamily="34" charset="-122"/>
                <a:cs typeface="Arial" pitchFamily="34" charset="-120"/>
              </a:rPr>
              <a:t>repeated nested CV (3×5×3, 20 Optuna trials), 5 estimators, bootstrap 95% CIs.  </a:t>
            </a:r>
            <a:pPr indent="0" marL="0">
              <a:lnSpc>
                <a:spcPct val="115000"/>
              </a:lnSpc>
              <a:buNone/>
            </a:pPr>
            <a:r>
              <a:rPr lang="en-US" sz="1400" b="1" dirty="0">
                <a:solidFill>
                  <a:srgbClr val="12343B"/>
                </a:solidFill>
                <a:latin typeface="Arial" pitchFamily="34" charset="0"/>
                <a:ea typeface="Arial" pitchFamily="34" charset="-122"/>
                <a:cs typeface="Arial" pitchFamily="34" charset="-120"/>
              </a:rPr>
              <a:t>Leakage rules: </a:t>
            </a:r>
            <a:pPr indent="0" marL="0">
              <a:lnSpc>
                <a:spcPct val="115000"/>
              </a:lnSpc>
              <a:buNone/>
            </a:pPr>
            <a:r>
              <a:rPr lang="en-US" sz="1400" dirty="0">
                <a:solidFill>
                  <a:srgbClr val="12343B"/>
                </a:solidFill>
                <a:latin typeface="Arial" pitchFamily="34" charset="0"/>
                <a:ea typeface="Arial" pitchFamily="34" charset="-122"/>
                <a:cs typeface="Arial" pitchFamily="34" charset="-120"/>
              </a:rPr>
              <a:t>CV unit = donor (M24 merged); all feature selection fit in-fold; </a:t>
            </a:r>
            <a:pPr indent="0" marL="0">
              <a:lnSpc>
                <a:spcPct val="115000"/>
              </a:lnSpc>
              <a:buNone/>
            </a:pPr>
            <a:r>
              <a:rPr lang="en-US" sz="1400" b="1" dirty="0">
                <a:solidFill>
                  <a:srgbClr val="C0392B"/>
                </a:solidFill>
                <a:latin typeface="Arial" pitchFamily="34" charset="0"/>
                <a:ea typeface="Arial" pitchFamily="34" charset="-122"/>
                <a:cs typeface="Arial" pitchFamily="34" charset="-120"/>
              </a:rPr>
              <a:t>tensor re-fit inside each fold</a:t>
            </a:r>
            <a:pPr indent="0" marL="0">
              <a:lnSpc>
                <a:spcPct val="115000"/>
              </a:lnSpc>
              <a:buNone/>
            </a:pPr>
            <a:r>
              <a:rPr lang="en-US" sz="1400" dirty="0">
                <a:solidFill>
                  <a:srgbClr val="12343B"/>
                </a:solidFill>
                <a:latin typeface="Arial" pitchFamily="34" charset="0"/>
                <a:ea typeface="Arial" pitchFamily="34" charset="-122"/>
                <a:cs typeface="Arial" pitchFamily="34" charset="-120"/>
              </a:rPr>
              <a:t> for the headline numbers.</a:t>
            </a:r>
            <a:endParaRPr lang="en-US" sz="1400" dirty="0"/>
          </a:p>
        </p:txBody>
      </p:sp>
      <p:sp>
        <p:nvSpPr>
          <p:cNvPr id="16" name="Text 14"/>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RESULTS · DONOR-LEVEL CLASSIFICATION</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Expression wins; combined never separates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766560" cy="914400"/>
        </p:xfrm>
        <a:graphic>
          <a:graphicData uri="http://schemas.openxmlformats.org/drawingml/2006/table">
            <a:tbl>
              <a:tblPr/>
              <a:tblGrid>
                <a:gridCol w="1554480"/>
                <a:gridCol w="1828800"/>
                <a:gridCol w="1691640"/>
                <a:gridCol w="1691640"/>
              </a:tblGrid>
              <a:tr h="475488">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Estimator</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Communication</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Expression</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Combined</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12343B"/>
                    </a:solidFill>
                  </a:tcPr>
                </a:tc>
              </a:tr>
              <a:tr h="475488">
                <a:tc>
                  <a:txBody>
                    <a:bodyPr/>
                    <a:lstStyle/>
                    <a:p>
                      <a:pPr indent="0" marL="0">
                        <a:buNone/>
                      </a:pPr>
                      <a:r>
                        <a:rPr lang="en-US" sz="1500" b="1" dirty="0">
                          <a:solidFill>
                            <a:srgbClr val="12343B"/>
                          </a:solidFill>
                          <a:latin typeface="Arial" pitchFamily="34" charset="0"/>
                          <a:ea typeface="Arial" pitchFamily="34" charset="-122"/>
                          <a:cs typeface="Arial" pitchFamily="34" charset="-120"/>
                        </a:rPr>
                        <a:t>LR</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0.633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0.646</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0.694</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2343B"/>
                          </a:solidFill>
                          <a:latin typeface="Arial" pitchFamily="34" charset="0"/>
                          <a:ea typeface="Arial" pitchFamily="34" charset="-122"/>
                          <a:cs typeface="Arial" pitchFamily="34" charset="-120"/>
                        </a:rPr>
                        <a:t>GNB</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0.633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0.643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0.673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r>
              <a:tr h="475488">
                <a:tc>
                  <a:txBody>
                    <a:bodyPr/>
                    <a:lstStyle/>
                    <a:p>
                      <a:pPr indent="0" marL="0">
                        <a:buNone/>
                      </a:pPr>
                      <a:r>
                        <a:rPr lang="en-US" sz="1500" b="1" dirty="0">
                          <a:solidFill>
                            <a:srgbClr val="12343B"/>
                          </a:solidFill>
                          <a:latin typeface="Arial" pitchFamily="34" charset="0"/>
                          <a:ea typeface="Arial" pitchFamily="34" charset="-122"/>
                          <a:cs typeface="Arial" pitchFamily="34" charset="-120"/>
                        </a:rPr>
                        <a:t>LDA</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0.633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0.667</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0.653</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2343B"/>
                          </a:solidFill>
                          <a:latin typeface="Arial" pitchFamily="34" charset="0"/>
                          <a:ea typeface="Arial" pitchFamily="34" charset="-122"/>
                          <a:cs typeface="Arial" pitchFamily="34" charset="-120"/>
                        </a:rPr>
                        <a:t>RF</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C0392B"/>
                          </a:solidFill>
                          <a:latin typeface="Arial" pitchFamily="34" charset="0"/>
                          <a:ea typeface="Arial" pitchFamily="34" charset="-122"/>
                          <a:cs typeface="Arial" pitchFamily="34" charset="-120"/>
                        </a:rPr>
                        <a:t>0.536</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0.688</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c>
                  <a:txBody>
                    <a:bodyPr/>
                    <a:lstStyle/>
                    <a:p>
                      <a:pPr algn="ctr" indent="0" marL="0">
                        <a:buNone/>
                      </a:pPr>
                      <a:r>
                        <a:rPr lang="en-US" sz="1500" dirty="0">
                          <a:solidFill>
                            <a:srgbClr val="12343B"/>
                          </a:solidFill>
                          <a:latin typeface="Arial" pitchFamily="34" charset="0"/>
                          <a:ea typeface="Arial" pitchFamily="34" charset="-122"/>
                          <a:cs typeface="Arial" pitchFamily="34" charset="-120"/>
                        </a:rPr>
                        <a:t>0.667</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4F8F8"/>
                    </a:solidFill>
                  </a:tcPr>
                </a:tc>
              </a:tr>
              <a:tr h="475488">
                <a:tc>
                  <a:txBody>
                    <a:bodyPr/>
                    <a:lstStyle/>
                    <a:p>
                      <a:pPr indent="0" marL="0">
                        <a:buNone/>
                      </a:pPr>
                      <a:r>
                        <a:rPr lang="en-US" sz="1500" b="1" dirty="0">
                          <a:solidFill>
                            <a:srgbClr val="12343B"/>
                          </a:solidFill>
                          <a:latin typeface="Arial" pitchFamily="34" charset="0"/>
                          <a:ea typeface="Arial" pitchFamily="34" charset="-122"/>
                          <a:cs typeface="Arial" pitchFamily="34" charset="-120"/>
                        </a:rPr>
                        <a:t>XGB</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392B"/>
                          </a:solidFill>
                          <a:latin typeface="Arial" pitchFamily="34" charset="0"/>
                          <a:ea typeface="Arial" pitchFamily="34" charset="-122"/>
                          <a:cs typeface="Arial" pitchFamily="34" charset="-120"/>
                        </a:rPr>
                        <a:t>0.490</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E7C86"/>
                          </a:solidFill>
                          <a:latin typeface="Arial" pitchFamily="34" charset="0"/>
                          <a:ea typeface="Arial" pitchFamily="34" charset="-122"/>
                          <a:cs typeface="Arial" pitchFamily="34" charset="-120"/>
                        </a:rPr>
                        <a:t>0.714</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E7C86"/>
                          </a:solidFill>
                          <a:latin typeface="Arial" pitchFamily="34" charset="0"/>
                          <a:ea typeface="Arial" pitchFamily="34" charset="-122"/>
                          <a:cs typeface="Arial" pitchFamily="34" charset="-120"/>
                        </a:rPr>
                        <a:t>0.714</a:t>
                      </a:r>
                      <a:endParaRPr lang="en-US" sz="1500" dirty="0">
                        <a:latin typeface="Arial" charset="0"/>
                        <a:ea typeface="Arial" charset="0"/>
                        <a:cs typeface="Arial" charset="0"/>
                      </a:endParaRPr>
                    </a:p>
                  </a:txBody>
                  <a:tcPr marL="91440" marR="91440" marT="45720" marB="45720" anchor="ctr">
                    <a:lnL w="6350" cap="flat" cmpd="sng" algn="ctr">
                      <a:solidFill>
                        <a:srgbClr val="D5DFE0"/>
                      </a:solidFill>
                      <a:prstDash val="solid"/>
                      <a:round/>
                      <a:headEnd type="none" w="med" len="med"/>
                      <a:tailEnd type="none" w="med" len="med"/>
                    </a:lnL>
                    <a:lnR w="6350" cap="flat" cmpd="sng" algn="ctr">
                      <a:solidFill>
                        <a:srgbClr val="D5DFE0"/>
                      </a:solidFill>
                      <a:prstDash val="solid"/>
                      <a:round/>
                      <a:headEnd type="none" w="med" len="med"/>
                      <a:tailEnd type="none" w="med" len="med"/>
                    </a:lnR>
                    <a:lnT w="6350" cap="flat" cmpd="sng" algn="ctr">
                      <a:solidFill>
                        <a:srgbClr val="D5DFE0"/>
                      </a:solidFill>
                      <a:prstDash val="solid"/>
                      <a:round/>
                      <a:headEnd type="none" w="med" len="med"/>
                      <a:tailEnd type="none" w="med" len="med"/>
                    </a:lnT>
                    <a:lnB w="6350" cap="flat" cmpd="sng" algn="ctr">
                      <a:solidFill>
                        <a:srgbClr val="D5DFE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572000"/>
            <a:ext cx="6766560" cy="457200"/>
          </a:xfrm>
          <a:prstGeom prst="rect">
            <a:avLst/>
          </a:prstGeom>
          <a:noFill/>
          <a:ln/>
        </p:spPr>
        <p:txBody>
          <a:bodyPr wrap="square" lIns="0" tIns="0" rIns="0" bIns="0" rtlCol="0" anchor="ctr"/>
          <a:lstStyle/>
          <a:p>
            <a:pPr indent="0" marL="0">
              <a:lnSpc>
                <a:spcPct val="110000"/>
              </a:lnSpc>
              <a:buNone/>
            </a:pPr>
            <a:r>
              <a:rPr lang="en-US" sz="1200" i="1" dirty="0">
                <a:solidFill>
                  <a:srgbClr val="5A6B72"/>
                </a:solidFill>
                <a:latin typeface="Arial" pitchFamily="34" charset="0"/>
                <a:ea typeface="Arial" pitchFamily="34" charset="-122"/>
                <a:cs typeface="Arial" pitchFamily="34" charset="-120"/>
              </a:rPr>
              <a:t>Median AUC, rigorous nested CV.  Communication-only: linear models ≈ 0.633, trees at chance.</a:t>
            </a:r>
            <a:endParaRPr lang="en-US" sz="1200" dirty="0"/>
          </a:p>
        </p:txBody>
      </p:sp>
      <p:sp>
        <p:nvSpPr>
          <p:cNvPr id="6" name="Shape 3"/>
          <p:cNvSpPr/>
          <p:nvPr/>
        </p:nvSpPr>
        <p:spPr>
          <a:xfrm>
            <a:off x="7772400" y="1828800"/>
            <a:ext cx="3886200" cy="1325880"/>
          </a:xfrm>
          <a:prstGeom prst="roundRect">
            <a:avLst>
              <a:gd name="adj" fmla="val 5517"/>
            </a:avLst>
          </a:prstGeom>
          <a:solidFill>
            <a:srgbClr val="EEF4F5"/>
          </a:solidFill>
          <a:ln/>
          <a:effectLst>
            <a:outerShdw sx="100000" sy="100000" kx="0" ky="0" algn="bl" rotWithShape="0" blurRad="88900" dist="38100" dir="5400000">
              <a:srgbClr val="000000">
                <a:alpha val="13000"/>
              </a:srgbClr>
            </a:outerShdw>
          </a:effectLst>
        </p:spPr>
      </p:sp>
      <p:sp>
        <p:nvSpPr>
          <p:cNvPr id="7" name="Text 4"/>
          <p:cNvSpPr/>
          <p:nvPr/>
        </p:nvSpPr>
        <p:spPr>
          <a:xfrm>
            <a:off x="8046720" y="2011680"/>
            <a:ext cx="3337560" cy="1005840"/>
          </a:xfrm>
          <a:prstGeom prst="rect">
            <a:avLst/>
          </a:prstGeom>
          <a:noFill/>
          <a:ln/>
        </p:spPr>
        <p:txBody>
          <a:bodyPr wrap="square" lIns="0" tIns="0" rIns="0" bIns="0" rtlCol="0" anchor="ctr"/>
          <a:lstStyle/>
          <a:p>
            <a:pPr indent="0" marL="0">
              <a:lnSpc>
                <a:spcPct val="105000"/>
              </a:lnSpc>
              <a:buNone/>
            </a:pPr>
            <a:r>
              <a:rPr lang="en-US" sz="2600" b="1" dirty="0">
                <a:solidFill>
                  <a:srgbClr val="0E7C86"/>
                </a:solidFill>
                <a:latin typeface="Arial" pitchFamily="34" charset="0"/>
                <a:ea typeface="Arial" pitchFamily="34" charset="-122"/>
                <a:cs typeface="Arial" pitchFamily="34" charset="-120"/>
              </a:rPr>
              <a:t>0.714 → 0.714
</a:t>
            </a:r>
            <a:pPr indent="0" marL="0">
              <a:lnSpc>
                <a:spcPct val="105000"/>
              </a:lnSpc>
              <a:buNone/>
            </a:pPr>
            <a:r>
              <a:rPr lang="en-US" sz="1250" dirty="0">
                <a:solidFill>
                  <a:srgbClr val="5A6B72"/>
                </a:solidFill>
                <a:latin typeface="Arial" pitchFamily="34" charset="0"/>
                <a:ea typeface="Arial" pitchFamily="34" charset="-122"/>
                <a:cs typeface="Arial" pitchFamily="34" charset="-120"/>
              </a:rPr>
              <a:t>best model (XGB): identical with or without factors</a:t>
            </a:r>
            <a:endParaRPr lang="en-US" sz="2600" dirty="0"/>
          </a:p>
        </p:txBody>
      </p:sp>
      <p:sp>
        <p:nvSpPr>
          <p:cNvPr id="8" name="Shape 5"/>
          <p:cNvSpPr/>
          <p:nvPr/>
        </p:nvSpPr>
        <p:spPr>
          <a:xfrm>
            <a:off x="7772400" y="3291840"/>
            <a:ext cx="3886200" cy="1737360"/>
          </a:xfrm>
          <a:prstGeom prst="roundRect">
            <a:avLst>
              <a:gd name="adj" fmla="val 4211"/>
            </a:avLst>
          </a:prstGeom>
          <a:solidFill>
            <a:srgbClr val="FBEDEB"/>
          </a:solidFill>
          <a:ln/>
          <a:effectLst>
            <a:outerShdw sx="100000" sy="100000" kx="0" ky="0" algn="bl" rotWithShape="0" blurRad="88900" dist="38100" dir="5400000">
              <a:srgbClr val="000000">
                <a:alpha val="13000"/>
              </a:srgbClr>
            </a:outerShdw>
          </a:effectLst>
        </p:spPr>
      </p:sp>
      <p:sp>
        <p:nvSpPr>
          <p:cNvPr id="9" name="Text 6"/>
          <p:cNvSpPr/>
          <p:nvPr/>
        </p:nvSpPr>
        <p:spPr>
          <a:xfrm>
            <a:off x="8046720" y="3474720"/>
            <a:ext cx="3337560" cy="320040"/>
          </a:xfrm>
          <a:prstGeom prst="rect">
            <a:avLst/>
          </a:prstGeom>
          <a:noFill/>
          <a:ln/>
        </p:spPr>
        <p:txBody>
          <a:bodyPr wrap="square" lIns="0" tIns="0" rIns="0" bIns="0" rtlCol="0" anchor="ctr"/>
          <a:lstStyle/>
          <a:p>
            <a:pPr indent="0" marL="0">
              <a:buNone/>
            </a:pPr>
            <a:r>
              <a:rPr lang="en-US" sz="1150" b="1" spc="100" kern="0" dirty="0">
                <a:solidFill>
                  <a:srgbClr val="C0392B"/>
                </a:solidFill>
                <a:latin typeface="Arial" pitchFamily="34" charset="0"/>
                <a:ea typeface="Arial" pitchFamily="34" charset="-122"/>
                <a:cs typeface="Arial" pitchFamily="34" charset="-120"/>
              </a:rPr>
              <a:t>VALUE-ADD (combined − expression)</a:t>
            </a:r>
            <a:endParaRPr lang="en-US" sz="1150" dirty="0"/>
          </a:p>
        </p:txBody>
      </p:sp>
      <p:sp>
        <p:nvSpPr>
          <p:cNvPr id="10" name="Text 7"/>
          <p:cNvSpPr/>
          <p:nvPr/>
        </p:nvSpPr>
        <p:spPr>
          <a:xfrm>
            <a:off x="8046720" y="3840480"/>
            <a:ext cx="3337560" cy="1097280"/>
          </a:xfrm>
          <a:prstGeom prst="rect">
            <a:avLst/>
          </a:prstGeom>
          <a:noFill/>
          <a:ln/>
        </p:spPr>
        <p:txBody>
          <a:bodyPr wrap="square" lIns="0" tIns="0" rIns="0" bIns="0" rtlCol="0" anchor="t"/>
          <a:lstStyle/>
          <a:p>
            <a:pPr indent="0" marL="0">
              <a:lnSpc>
                <a:spcPct val="112000"/>
              </a:lnSpc>
              <a:buNone/>
            </a:pPr>
            <a:r>
              <a:rPr lang="en-US" sz="1400" dirty="0">
                <a:solidFill>
                  <a:srgbClr val="12343B"/>
                </a:solidFill>
                <a:latin typeface="Arial" pitchFamily="34" charset="0"/>
                <a:ea typeface="Arial" pitchFamily="34" charset="-122"/>
                <a:cs typeface="Arial" pitchFamily="34" charset="-120"/>
              </a:rPr>
              <a:t>Positive on average but </a:t>
            </a:r>
            <a:pPr indent="0" marL="0">
              <a:lnSpc>
                <a:spcPct val="112000"/>
              </a:lnSpc>
              <a:buNone/>
            </a:pPr>
            <a:r>
              <a:rPr lang="en-US" sz="1400" b="1" dirty="0">
                <a:solidFill>
                  <a:srgbClr val="12343B"/>
                </a:solidFill>
                <a:latin typeface="Arial" pitchFamily="34" charset="0"/>
                <a:ea typeface="Arial" pitchFamily="34" charset="-122"/>
                <a:cs typeface="Arial" pitchFamily="34" charset="-120"/>
              </a:rPr>
              <a:t>not CI-separated</a:t>
            </a:r>
            <a:pPr indent="0" marL="0">
              <a:lnSpc>
                <a:spcPct val="112000"/>
              </a:lnSpc>
              <a:buNone/>
            </a:pPr>
            <a:r>
              <a:rPr lang="en-US" sz="1400" dirty="0">
                <a:solidFill>
                  <a:srgbClr val="12343B"/>
                </a:solidFill>
                <a:latin typeface="Arial" pitchFamily="34" charset="0"/>
                <a:ea typeface="Arial" pitchFamily="34" charset="-122"/>
                <a:cs typeface="Arial" pitchFamily="34" charset="-120"/>
              </a:rPr>
              <a:t>:  LR +0.048, GNB +0.031; LDA/RF slightly negative; XGB flat.</a:t>
            </a:r>
            <a:endParaRPr lang="en-US" sz="1400" dirty="0"/>
          </a:p>
        </p:txBody>
      </p:sp>
      <p:sp>
        <p:nvSpPr>
          <p:cNvPr id="11" name="Text 8"/>
          <p:cNvSpPr/>
          <p:nvPr/>
        </p:nvSpPr>
        <p:spPr>
          <a:xfrm>
            <a:off x="548640" y="5349240"/>
            <a:ext cx="10972800" cy="822960"/>
          </a:xfrm>
          <a:prstGeom prst="rect">
            <a:avLst/>
          </a:prstGeom>
          <a:noFill/>
          <a:ln/>
        </p:spPr>
        <p:txBody>
          <a:bodyPr wrap="square" lIns="0" tIns="0" rIns="0" bIns="0" rtlCol="0" anchor="t"/>
          <a:lstStyle/>
          <a:p>
            <a:pPr indent="0" marL="0">
              <a:lnSpc>
                <a:spcPct val="112000"/>
              </a:lnSpc>
              <a:buNone/>
            </a:pPr>
            <a:r>
              <a:rPr lang="en-US" sz="1500" b="1" dirty="0">
                <a:solidFill>
                  <a:srgbClr val="C0392B"/>
                </a:solidFill>
                <a:latin typeface="Arial" pitchFamily="34" charset="0"/>
                <a:ea typeface="Arial" pitchFamily="34" charset="-122"/>
                <a:cs typeface="Arial" pitchFamily="34" charset="-120"/>
              </a:rPr>
              <a:t>Honest read:  </a:t>
            </a:r>
            <a:pPr indent="0" marL="0">
              <a:lnSpc>
                <a:spcPct val="112000"/>
              </a:lnSpc>
              <a:buNone/>
            </a:pPr>
            <a:r>
              <a:rPr lang="en-US" sz="1500" dirty="0">
                <a:solidFill>
                  <a:srgbClr val="12343B"/>
                </a:solidFill>
                <a:latin typeface="Arial" pitchFamily="34" charset="0"/>
                <a:ea typeface="Arial" pitchFamily="34" charset="-122"/>
                <a:cs typeface="Arial" pitchFamily="34" charset="-120"/>
              </a:rPr>
              <a:t>communication carries weak real signal (linear models only) but adds </a:t>
            </a:r>
            <a:pPr indent="0" marL="0">
              <a:lnSpc>
                <a:spcPct val="112000"/>
              </a:lnSpc>
              <a:buNone/>
            </a:pPr>
            <a:r>
              <a:rPr lang="en-US" sz="1500" b="1" dirty="0">
                <a:solidFill>
                  <a:srgbClr val="12343B"/>
                </a:solidFill>
                <a:latin typeface="Arial" pitchFamily="34" charset="0"/>
                <a:ea typeface="Arial" pitchFamily="34" charset="-122"/>
                <a:cs typeface="Arial" pitchFamily="34" charset="-120"/>
              </a:rPr>
              <a:t>no statistically demonstrable value</a:t>
            </a:r>
            <a:pPr indent="0" marL="0">
              <a:lnSpc>
                <a:spcPct val="112000"/>
              </a:lnSpc>
              <a:buNone/>
            </a:pPr>
            <a:r>
              <a:rPr lang="en-US" sz="1500" dirty="0">
                <a:solidFill>
                  <a:srgbClr val="12343B"/>
                </a:solidFill>
                <a:latin typeface="Arial" pitchFamily="34" charset="0"/>
                <a:ea typeface="Arial" pitchFamily="34" charset="-122"/>
                <a:cs typeface="Arial" pitchFamily="34" charset="-120"/>
              </a:rPr>
              <a:t> beyond expression at n = 71.</a:t>
            </a:r>
            <a:endParaRPr lang="en-US" sz="1500" dirty="0"/>
          </a:p>
        </p:txBody>
      </p:sp>
      <p:sp>
        <p:nvSpPr>
          <p:cNvPr id="12" name="Text 9"/>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D · DOES FACTOR 4 TRACK MDD?</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Higher in MDD donors of both sexes</a:t>
            </a:r>
            <a:endParaRPr lang="en-US" sz="3000" dirty="0"/>
          </a:p>
        </p:txBody>
      </p:sp>
      <p:sp>
        <p:nvSpPr>
          <p:cNvPr id="4" name="Shape 2"/>
          <p:cNvSpPr/>
          <p:nvPr/>
        </p:nvSpPr>
        <p:spPr>
          <a:xfrm>
            <a:off x="548640" y="1645920"/>
            <a:ext cx="2148840" cy="1051560"/>
          </a:xfrm>
          <a:prstGeom prst="roundRect">
            <a:avLst>
              <a:gd name="adj" fmla="val 6087"/>
            </a:avLst>
          </a:prstGeom>
          <a:solidFill>
            <a:srgbClr val="EEF4F5"/>
          </a:solidFill>
          <a:ln/>
        </p:spPr>
      </p:sp>
      <p:sp>
        <p:nvSpPr>
          <p:cNvPr id="5" name="Text 3"/>
          <p:cNvSpPr/>
          <p:nvPr/>
        </p:nvSpPr>
        <p:spPr>
          <a:xfrm>
            <a:off x="731520" y="1773936"/>
            <a:ext cx="1783080" cy="502920"/>
          </a:xfrm>
          <a:prstGeom prst="rect">
            <a:avLst/>
          </a:prstGeom>
          <a:noFill/>
          <a:ln/>
        </p:spPr>
        <p:txBody>
          <a:bodyPr wrap="square" lIns="0" tIns="0" rIns="0" bIns="0" rtlCol="0" anchor="ctr"/>
          <a:lstStyle/>
          <a:p>
            <a:pPr indent="0" marL="0">
              <a:buNone/>
            </a:pPr>
            <a:r>
              <a:rPr lang="en-US" sz="2500" b="1" dirty="0">
                <a:solidFill>
                  <a:srgbClr val="5A6B72"/>
                </a:solidFill>
                <a:latin typeface="Cambria" pitchFamily="34" charset="0"/>
                <a:ea typeface="Cambria" pitchFamily="34" charset="-122"/>
                <a:cs typeface="Cambria" pitchFamily="34" charset="-120"/>
              </a:rPr>
              <a:t>0.632</a:t>
            </a:r>
            <a:endParaRPr lang="en-US" sz="2500" dirty="0"/>
          </a:p>
        </p:txBody>
      </p:sp>
      <p:sp>
        <p:nvSpPr>
          <p:cNvPr id="6" name="Text 4"/>
          <p:cNvSpPr/>
          <p:nvPr/>
        </p:nvSpPr>
        <p:spPr>
          <a:xfrm>
            <a:off x="731520" y="2304288"/>
            <a:ext cx="1783080" cy="292608"/>
          </a:xfrm>
          <a:prstGeom prst="rect">
            <a:avLst/>
          </a:prstGeom>
          <a:noFill/>
          <a:ln/>
        </p:spPr>
        <p:txBody>
          <a:bodyPr wrap="square" lIns="0" tIns="0" rIns="0" bIns="0" rtlCol="0" anchor="ctr"/>
          <a:lstStyle/>
          <a:p>
            <a:pPr indent="0" marL="0">
              <a:buNone/>
            </a:pPr>
            <a:r>
              <a:rPr lang="en-US" sz="1150" dirty="0">
                <a:solidFill>
                  <a:srgbClr val="5A6B72"/>
                </a:solidFill>
                <a:latin typeface="Arial" pitchFamily="34" charset="0"/>
                <a:ea typeface="Arial" pitchFamily="34" charset="-122"/>
                <a:cs typeface="Arial" pitchFamily="34" charset="-120"/>
              </a:rPr>
              <a:t>AUC · overall</a:t>
            </a:r>
            <a:endParaRPr lang="en-US" sz="1150" dirty="0"/>
          </a:p>
        </p:txBody>
      </p:sp>
      <p:sp>
        <p:nvSpPr>
          <p:cNvPr id="7" name="Shape 5"/>
          <p:cNvSpPr/>
          <p:nvPr/>
        </p:nvSpPr>
        <p:spPr>
          <a:xfrm>
            <a:off x="2926080" y="1645920"/>
            <a:ext cx="2148840" cy="1051560"/>
          </a:xfrm>
          <a:prstGeom prst="roundRect">
            <a:avLst>
              <a:gd name="adj" fmla="val 6087"/>
            </a:avLst>
          </a:prstGeom>
          <a:solidFill>
            <a:srgbClr val="EEF4F5"/>
          </a:solidFill>
          <a:ln/>
        </p:spPr>
      </p:sp>
      <p:sp>
        <p:nvSpPr>
          <p:cNvPr id="8" name="Text 6"/>
          <p:cNvSpPr/>
          <p:nvPr/>
        </p:nvSpPr>
        <p:spPr>
          <a:xfrm>
            <a:off x="3108960" y="1773936"/>
            <a:ext cx="1783080" cy="502920"/>
          </a:xfrm>
          <a:prstGeom prst="rect">
            <a:avLst/>
          </a:prstGeom>
          <a:noFill/>
          <a:ln/>
        </p:spPr>
        <p:txBody>
          <a:bodyPr wrap="square" lIns="0" tIns="0" rIns="0" bIns="0" rtlCol="0" anchor="ctr"/>
          <a:lstStyle/>
          <a:p>
            <a:pPr indent="0" marL="0">
              <a:buNone/>
            </a:pPr>
            <a:r>
              <a:rPr lang="en-US" sz="2500" b="1" dirty="0">
                <a:solidFill>
                  <a:srgbClr val="C0392B"/>
                </a:solidFill>
                <a:latin typeface="Cambria" pitchFamily="34" charset="0"/>
                <a:ea typeface="Cambria" pitchFamily="34" charset="-122"/>
                <a:cs typeface="Cambria" pitchFamily="34" charset="-120"/>
              </a:rPr>
              <a:t>0.702</a:t>
            </a:r>
            <a:endParaRPr lang="en-US" sz="2500" dirty="0"/>
          </a:p>
        </p:txBody>
      </p:sp>
      <p:sp>
        <p:nvSpPr>
          <p:cNvPr id="9" name="Text 7"/>
          <p:cNvSpPr/>
          <p:nvPr/>
        </p:nvSpPr>
        <p:spPr>
          <a:xfrm>
            <a:off x="3108960" y="2304288"/>
            <a:ext cx="1783080" cy="292608"/>
          </a:xfrm>
          <a:prstGeom prst="rect">
            <a:avLst/>
          </a:prstGeom>
          <a:noFill/>
          <a:ln/>
        </p:spPr>
        <p:txBody>
          <a:bodyPr wrap="square" lIns="0" tIns="0" rIns="0" bIns="0" rtlCol="0" anchor="ctr"/>
          <a:lstStyle/>
          <a:p>
            <a:pPr indent="0" marL="0">
              <a:buNone/>
            </a:pPr>
            <a:r>
              <a:rPr lang="en-US" sz="1150" dirty="0">
                <a:solidFill>
                  <a:srgbClr val="5A6B72"/>
                </a:solidFill>
                <a:latin typeface="Arial" pitchFamily="34" charset="0"/>
                <a:ea typeface="Arial" pitchFamily="34" charset="-122"/>
                <a:cs typeface="Arial" pitchFamily="34" charset="-120"/>
              </a:rPr>
              <a:t>AUC · males · p=0.05</a:t>
            </a:r>
            <a:endParaRPr lang="en-US" sz="1150" dirty="0"/>
          </a:p>
        </p:txBody>
      </p:sp>
      <p:sp>
        <p:nvSpPr>
          <p:cNvPr id="10" name="Shape 8"/>
          <p:cNvSpPr/>
          <p:nvPr/>
        </p:nvSpPr>
        <p:spPr>
          <a:xfrm>
            <a:off x="5303520" y="1645920"/>
            <a:ext cx="2148840" cy="1051560"/>
          </a:xfrm>
          <a:prstGeom prst="roundRect">
            <a:avLst>
              <a:gd name="adj" fmla="val 6087"/>
            </a:avLst>
          </a:prstGeom>
          <a:solidFill>
            <a:srgbClr val="EEF4F5"/>
          </a:solidFill>
          <a:ln/>
        </p:spPr>
      </p:sp>
      <p:sp>
        <p:nvSpPr>
          <p:cNvPr id="11" name="Text 9"/>
          <p:cNvSpPr/>
          <p:nvPr/>
        </p:nvSpPr>
        <p:spPr>
          <a:xfrm>
            <a:off x="5486400" y="1773936"/>
            <a:ext cx="1783080" cy="502920"/>
          </a:xfrm>
          <a:prstGeom prst="rect">
            <a:avLst/>
          </a:prstGeom>
          <a:noFill/>
          <a:ln/>
        </p:spPr>
        <p:txBody>
          <a:bodyPr wrap="square" lIns="0" tIns="0" rIns="0" bIns="0" rtlCol="0" anchor="ctr"/>
          <a:lstStyle/>
          <a:p>
            <a:pPr indent="0" marL="0">
              <a:buNone/>
            </a:pPr>
            <a:r>
              <a:rPr lang="en-US" sz="2500" b="1" dirty="0">
                <a:solidFill>
                  <a:srgbClr val="0E7C86"/>
                </a:solidFill>
                <a:latin typeface="Cambria" pitchFamily="34" charset="0"/>
                <a:ea typeface="Cambria" pitchFamily="34" charset="-122"/>
                <a:cs typeface="Cambria" pitchFamily="34" charset="-120"/>
              </a:rPr>
              <a:t>0.578</a:t>
            </a:r>
            <a:endParaRPr lang="en-US" sz="2500" dirty="0"/>
          </a:p>
        </p:txBody>
      </p:sp>
      <p:sp>
        <p:nvSpPr>
          <p:cNvPr id="12" name="Text 10"/>
          <p:cNvSpPr/>
          <p:nvPr/>
        </p:nvSpPr>
        <p:spPr>
          <a:xfrm>
            <a:off x="5486400" y="2304288"/>
            <a:ext cx="1783080" cy="292608"/>
          </a:xfrm>
          <a:prstGeom prst="rect">
            <a:avLst/>
          </a:prstGeom>
          <a:noFill/>
          <a:ln/>
        </p:spPr>
        <p:txBody>
          <a:bodyPr wrap="square" lIns="0" tIns="0" rIns="0" bIns="0" rtlCol="0" anchor="ctr"/>
          <a:lstStyle/>
          <a:p>
            <a:pPr indent="0" marL="0">
              <a:buNone/>
            </a:pPr>
            <a:r>
              <a:rPr lang="en-US" sz="1150" dirty="0">
                <a:solidFill>
                  <a:srgbClr val="5A6B72"/>
                </a:solidFill>
                <a:latin typeface="Arial" pitchFamily="34" charset="0"/>
                <a:ea typeface="Arial" pitchFamily="34" charset="-122"/>
                <a:cs typeface="Arial" pitchFamily="34" charset="-120"/>
              </a:rPr>
              <a:t>AUC · females · p=0.42</a:t>
            </a:r>
            <a:endParaRPr lang="en-US" sz="1150" dirty="0"/>
          </a:p>
        </p:txBody>
      </p:sp>
      <p:pic>
        <p:nvPicPr>
          <p:cNvPr id="13" name="Image 0" descr="figures/step4_shap_beeswarm_overall.png">    </p:cNvPr>
          <p:cNvPicPr>
            <a:picLocks noChangeAspect="1"/>
          </p:cNvPicPr>
          <p:nvPr/>
        </p:nvPicPr>
        <p:blipFill>
          <a:blip r:embed="rId1"/>
          <a:stretch>
            <a:fillRect/>
          </a:stretch>
        </p:blipFill>
        <p:spPr>
          <a:xfrm>
            <a:off x="3995512" y="2971800"/>
            <a:ext cx="4197927" cy="2194560"/>
          </a:xfrm>
          <a:prstGeom prst="rect">
            <a:avLst/>
          </a:prstGeom>
        </p:spPr>
      </p:pic>
      <p:sp>
        <p:nvSpPr>
          <p:cNvPr id="14" name="Text 11"/>
          <p:cNvSpPr/>
          <p:nvPr/>
        </p:nvSpPr>
        <p:spPr>
          <a:xfrm>
            <a:off x="548640" y="5230368"/>
            <a:ext cx="11091672" cy="457200"/>
          </a:xfrm>
          <a:prstGeom prst="rect">
            <a:avLst/>
          </a:prstGeom>
          <a:noFill/>
          <a:ln/>
        </p:spPr>
        <p:txBody>
          <a:bodyPr wrap="square" lIns="0" tIns="0" rIns="0" bIns="0" rtlCol="0" anchor="t"/>
          <a:lstStyle/>
          <a:p>
            <a:pPr algn="ctr" indent="0" marL="0">
              <a:buNone/>
            </a:pPr>
            <a:r>
              <a:rPr lang="en-US" sz="1150" i="1" dirty="0">
                <a:solidFill>
                  <a:srgbClr val="5A6B72"/>
                </a:solidFill>
                <a:latin typeface="Arial" pitchFamily="34" charset="0"/>
                <a:ea typeface="Arial" pitchFamily="34" charset="-122"/>
                <a:cs typeface="Arial" pitchFamily="34" charset="-120"/>
              </a:rPr>
              <a:t>Communication-only LR SHAP (all donors). Factor 4 in red.</a:t>
            </a:r>
            <a:endParaRPr lang="en-US" sz="1150" dirty="0"/>
          </a:p>
        </p:txBody>
      </p:sp>
      <p:sp>
        <p:nvSpPr>
          <p:cNvPr id="15" name="Text 12"/>
          <p:cNvSpPr/>
          <p:nvPr/>
        </p:nvSpPr>
        <p:spPr>
          <a:xfrm>
            <a:off x="548640" y="5715000"/>
            <a:ext cx="11091672" cy="822960"/>
          </a:xfrm>
          <a:prstGeom prst="rect">
            <a:avLst/>
          </a:prstGeom>
          <a:noFill/>
          <a:ln/>
        </p:spPr>
        <p:txBody>
          <a:bodyPr wrap="square" lIns="0" tIns="0" rIns="0" bIns="0" rtlCol="0" anchor="t"/>
          <a:lstStyle/>
          <a:p>
            <a:pPr algn="ctr" indent="0" marL="0">
              <a:lnSpc>
                <a:spcPct val="112000"/>
              </a:lnSpc>
              <a:buNone/>
            </a:pPr>
            <a:r>
              <a:rPr lang="en-US" sz="1400" dirty="0">
                <a:solidFill>
                  <a:srgbClr val="12343B"/>
                </a:solidFill>
                <a:latin typeface="Arial" pitchFamily="34" charset="0"/>
                <a:ea typeface="Arial" pitchFamily="34" charset="-122"/>
                <a:cs typeface="Arial" pitchFamily="34" charset="-120"/>
              </a:rPr>
              <a:t>Standalone, the program discriminates MDD with AUC 0.632, concentrated in </a:t>
            </a:r>
            <a:pPr algn="ctr" indent="0" marL="0">
              <a:lnSpc>
                <a:spcPct val="112000"/>
              </a:lnSpc>
              <a:buNone/>
            </a:pPr>
            <a:r>
              <a:rPr lang="en-US" sz="1400" b="1" dirty="0">
                <a:solidFill>
                  <a:srgbClr val="C0392B"/>
                </a:solidFill>
                <a:latin typeface="Arial" pitchFamily="34" charset="0"/>
                <a:ea typeface="Arial" pitchFamily="34" charset="-122"/>
                <a:cs typeface="Arial" pitchFamily="34" charset="-120"/>
              </a:rPr>
              <a:t>males</a:t>
            </a:r>
            <a:pPr algn="ctr" indent="0" marL="0">
              <a:lnSpc>
                <a:spcPct val="112000"/>
              </a:lnSpc>
              <a:buNone/>
            </a:pPr>
            <a:r>
              <a:rPr lang="en-US" sz="1400" dirty="0">
                <a:solidFill>
                  <a:srgbClr val="12343B"/>
                </a:solidFill>
                <a:latin typeface="Arial" pitchFamily="34" charset="0"/>
                <a:ea typeface="Arial" pitchFamily="34" charset="-122"/>
                <a:cs typeface="Arial" pitchFamily="34" charset="-120"/>
              </a:rPr>
              <a:t>.  SHAP ranks Factor 4 </a:t>
            </a:r>
            <a:pPr algn="ctr" indent="0" marL="0">
              <a:lnSpc>
                <a:spcPct val="112000"/>
              </a:lnSpc>
              <a:buNone/>
            </a:pPr>
            <a:r>
              <a:rPr lang="en-US" sz="1400" b="1" dirty="0">
                <a:solidFill>
                  <a:srgbClr val="12343B"/>
                </a:solidFill>
                <a:latin typeface="Arial" pitchFamily="34" charset="0"/>
                <a:ea typeface="Arial" pitchFamily="34" charset="-122"/>
                <a:cs typeface="Arial" pitchFamily="34" charset="-120"/>
              </a:rPr>
              <a:t>#2 of 5</a:t>
            </a:r>
            <a:pPr algn="ctr" indent="0" marL="0">
              <a:lnSpc>
                <a:spcPct val="112000"/>
              </a:lnSpc>
              <a:buNone/>
            </a:pPr>
            <a:r>
              <a:rPr lang="en-US" sz="1400" dirty="0">
                <a:solidFill>
                  <a:srgbClr val="12343B"/>
                </a:solidFill>
                <a:latin typeface="Arial" pitchFamily="34" charset="0"/>
                <a:ea typeface="Arial" pitchFamily="34" charset="-122"/>
                <a:cs typeface="Arial" pitchFamily="34" charset="-120"/>
              </a:rPr>
              <a:t> — comparably across sexes (F 0.234, M 0.227); high values push the prediction toward MDD.</a:t>
            </a:r>
            <a:endParaRPr lang="en-US" sz="1400" dirty="0"/>
          </a:p>
        </p:txBody>
      </p:sp>
      <p:sp>
        <p:nvSpPr>
          <p:cNvPr id="16" name="Text 1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D · SHARED ACROSS SEXES</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Factor 4 carries weight in females and males alike</a:t>
            </a:r>
            <a:endParaRPr lang="en-US" sz="3000" dirty="0"/>
          </a:p>
        </p:txBody>
      </p:sp>
      <p:pic>
        <p:nvPicPr>
          <p:cNvPr id="4" name="Image 0" descr="figures/step4_shap_beeswarm_female.png">    </p:cNvPr>
          <p:cNvPicPr>
            <a:picLocks noChangeAspect="1"/>
          </p:cNvPicPr>
          <p:nvPr/>
        </p:nvPicPr>
        <p:blipFill>
          <a:blip r:embed="rId1"/>
          <a:stretch>
            <a:fillRect/>
          </a:stretch>
        </p:blipFill>
        <p:spPr>
          <a:xfrm>
            <a:off x="618467" y="1828800"/>
            <a:ext cx="5247409" cy="2743200"/>
          </a:xfrm>
          <a:prstGeom prst="rect">
            <a:avLst/>
          </a:prstGeom>
        </p:spPr>
      </p:pic>
      <p:pic>
        <p:nvPicPr>
          <p:cNvPr id="5" name="Image 1" descr="figures/step4_shap_beeswarm_male.png">    </p:cNvPr>
          <p:cNvPicPr>
            <a:picLocks noChangeAspect="1"/>
          </p:cNvPicPr>
          <p:nvPr/>
        </p:nvPicPr>
        <p:blipFill>
          <a:blip r:embed="rId2"/>
          <a:stretch>
            <a:fillRect/>
          </a:stretch>
        </p:blipFill>
        <p:spPr>
          <a:xfrm>
            <a:off x="6323076" y="1828800"/>
            <a:ext cx="5247409" cy="2743200"/>
          </a:xfrm>
          <a:prstGeom prst="rect">
            <a:avLst/>
          </a:prstGeom>
        </p:spPr>
      </p:pic>
      <p:sp>
        <p:nvSpPr>
          <p:cNvPr id="6" name="Text 2"/>
          <p:cNvSpPr/>
          <p:nvPr/>
        </p:nvSpPr>
        <p:spPr>
          <a:xfrm>
            <a:off x="618467" y="4617720"/>
            <a:ext cx="5247409" cy="457200"/>
          </a:xfrm>
          <a:prstGeom prst="rect">
            <a:avLst/>
          </a:prstGeom>
          <a:noFill/>
          <a:ln/>
        </p:spPr>
        <p:txBody>
          <a:bodyPr wrap="square" lIns="0" tIns="0" rIns="0" bIns="0" rtlCol="0" anchor="t"/>
          <a:lstStyle/>
          <a:p>
            <a:pPr algn="ctr" indent="0" marL="0">
              <a:buNone/>
            </a:pPr>
            <a:r>
              <a:rPr lang="en-US" sz="1150" i="1" dirty="0">
                <a:solidFill>
                  <a:srgbClr val="5A6B72"/>
                </a:solidFill>
                <a:latin typeface="Arial" pitchFamily="34" charset="0"/>
                <a:ea typeface="Arial" pitchFamily="34" charset="-122"/>
                <a:cs typeface="Arial" pitchFamily="34" charset="-120"/>
              </a:rPr>
              <a:t>Female donors (n = 38)</a:t>
            </a:r>
            <a:endParaRPr lang="en-US" sz="1150" dirty="0"/>
          </a:p>
        </p:txBody>
      </p:sp>
      <p:sp>
        <p:nvSpPr>
          <p:cNvPr id="7" name="Text 3"/>
          <p:cNvSpPr/>
          <p:nvPr/>
        </p:nvSpPr>
        <p:spPr>
          <a:xfrm>
            <a:off x="6323076" y="4617720"/>
            <a:ext cx="5247409" cy="457200"/>
          </a:xfrm>
          <a:prstGeom prst="rect">
            <a:avLst/>
          </a:prstGeom>
          <a:noFill/>
          <a:ln/>
        </p:spPr>
        <p:txBody>
          <a:bodyPr wrap="square" lIns="0" tIns="0" rIns="0" bIns="0" rtlCol="0" anchor="t"/>
          <a:lstStyle/>
          <a:p>
            <a:pPr algn="ctr" indent="0" marL="0">
              <a:buNone/>
            </a:pPr>
            <a:r>
              <a:rPr lang="en-US" sz="1150" i="1" dirty="0">
                <a:solidFill>
                  <a:srgbClr val="5A6B72"/>
                </a:solidFill>
                <a:latin typeface="Arial" pitchFamily="34" charset="0"/>
                <a:ea typeface="Arial" pitchFamily="34" charset="-122"/>
                <a:cs typeface="Arial" pitchFamily="34" charset="-120"/>
              </a:rPr>
              <a:t>Male donors (n = 33)</a:t>
            </a:r>
            <a:endParaRPr lang="en-US" sz="1150" dirty="0"/>
          </a:p>
        </p:txBody>
      </p:sp>
      <p:sp>
        <p:nvSpPr>
          <p:cNvPr id="8" name="Text 4"/>
          <p:cNvSpPr/>
          <p:nvPr/>
        </p:nvSpPr>
        <p:spPr>
          <a:xfrm>
            <a:off x="548640" y="5212080"/>
            <a:ext cx="10972800" cy="914400"/>
          </a:xfrm>
          <a:prstGeom prst="rect">
            <a:avLst/>
          </a:prstGeom>
          <a:noFill/>
          <a:ln/>
        </p:spPr>
        <p:txBody>
          <a:bodyPr wrap="square" lIns="0" tIns="0" rIns="0" bIns="0" rtlCol="0" anchor="t"/>
          <a:lstStyle/>
          <a:p>
            <a:pPr algn="ctr" indent="0" marL="0">
              <a:lnSpc>
                <a:spcPct val="112000"/>
              </a:lnSpc>
              <a:buNone/>
            </a:pPr>
            <a:r>
              <a:rPr lang="en-US" sz="1500" b="1" dirty="0">
                <a:solidFill>
                  <a:srgbClr val="12343B"/>
                </a:solidFill>
                <a:latin typeface="Arial" pitchFamily="34" charset="0"/>
                <a:ea typeface="Arial" pitchFamily="34" charset="-122"/>
                <a:cs typeface="Arial" pitchFamily="34" charset="-120"/>
              </a:rPr>
              <a:t>The hypothesis program is not a male-only artefact: </a:t>
            </a:r>
            <a:pPr algn="ctr" indent="0" marL="0">
              <a:lnSpc>
                <a:spcPct val="112000"/>
              </a:lnSpc>
              <a:buNone/>
            </a:pPr>
            <a:r>
              <a:rPr lang="en-US" sz="1500" dirty="0">
                <a:solidFill>
                  <a:srgbClr val="12343B"/>
                </a:solidFill>
                <a:latin typeface="Arial" pitchFamily="34" charset="0"/>
                <a:ea typeface="Arial" pitchFamily="34" charset="-122"/>
                <a:cs typeface="Arial" pitchFamily="34" charset="-120"/>
              </a:rPr>
              <a:t>Factor 4 (red) sits among the top contributors in both sexes, with high values on the MDD side — the signature of a </a:t>
            </a:r>
            <a:pPr algn="ctr" indent="0" marL="0">
              <a:lnSpc>
                <a:spcPct val="112000"/>
              </a:lnSpc>
              <a:buNone/>
            </a:pPr>
            <a:r>
              <a:rPr lang="en-US" sz="1500" b="1" dirty="0">
                <a:solidFill>
                  <a:srgbClr val="C0392B"/>
                </a:solidFill>
                <a:latin typeface="Arial" pitchFamily="34" charset="0"/>
                <a:ea typeface="Arial" pitchFamily="34" charset="-122"/>
                <a:cs typeface="Arial" pitchFamily="34" charset="-120"/>
              </a:rPr>
              <a:t>shared axis</a:t>
            </a:r>
            <a:pPr algn="ctr" indent="0" marL="0">
              <a:lnSpc>
                <a:spcPct val="112000"/>
              </a:lnSpc>
              <a:buNone/>
            </a:pPr>
            <a:r>
              <a:rPr lang="en-US" sz="1500" dirty="0">
                <a:solidFill>
                  <a:srgbClr val="12343B"/>
                </a:solidFill>
                <a:latin typeface="Arial" pitchFamily="34" charset="0"/>
                <a:ea typeface="Arial" pitchFamily="34" charset="-122"/>
                <a:cs typeface="Arial" pitchFamily="34" charset="-120"/>
              </a:rPr>
              <a:t>, not two unrelated findings.</a:t>
            </a:r>
            <a:endParaRPr lang="en-US" sz="1500" dirty="0"/>
          </a:p>
        </p:txBody>
      </p:sp>
      <p:sp>
        <p:nvSpPr>
          <p:cNvPr id="9" name="Text 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D · THE DECISIVE TEST</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When factors compete with genes, genes win</a:t>
            </a:r>
            <a:endParaRPr lang="en-US" sz="3000" dirty="0"/>
          </a:p>
        </p:txBody>
      </p:sp>
      <p:pic>
        <p:nvPicPr>
          <p:cNvPr id="4" name="Image 0" descr="figures/step4_shap_beeswarm_combined_overall.png">    </p:cNvPr>
          <p:cNvPicPr>
            <a:picLocks noChangeAspect="1"/>
          </p:cNvPicPr>
          <p:nvPr/>
        </p:nvPicPr>
        <p:blipFill>
          <a:blip r:embed="rId1"/>
          <a:stretch>
            <a:fillRect/>
          </a:stretch>
        </p:blipFill>
        <p:spPr>
          <a:xfrm>
            <a:off x="2905896" y="1737360"/>
            <a:ext cx="6377161" cy="2880360"/>
          </a:xfrm>
          <a:prstGeom prst="rect">
            <a:avLst/>
          </a:prstGeom>
        </p:spPr>
      </p:pic>
      <p:sp>
        <p:nvSpPr>
          <p:cNvPr id="5" name="Text 2"/>
          <p:cNvSpPr/>
          <p:nvPr/>
        </p:nvSpPr>
        <p:spPr>
          <a:xfrm>
            <a:off x="548640" y="4754880"/>
            <a:ext cx="11091672" cy="457200"/>
          </a:xfrm>
          <a:prstGeom prst="rect">
            <a:avLst/>
          </a:prstGeom>
          <a:noFill/>
          <a:ln/>
        </p:spPr>
        <p:txBody>
          <a:bodyPr wrap="square" lIns="0" tIns="0" rIns="0" bIns="0" rtlCol="0" anchor="t"/>
          <a:lstStyle/>
          <a:p>
            <a:pPr algn="ctr" indent="0" marL="0">
              <a:buNone/>
            </a:pPr>
            <a:r>
              <a:rPr lang="en-US" sz="1150" i="1" dirty="0">
                <a:solidFill>
                  <a:srgbClr val="5A6B72"/>
                </a:solidFill>
                <a:latin typeface="Arial" pitchFamily="34" charset="0"/>
                <a:ea typeface="Arial" pitchFamily="34" charset="-122"/>
                <a:cs typeface="Arial" pitchFamily="34" charset="-120"/>
              </a:rPr>
              <a:t>Combined-space SHAP: mRMR keeps 15 features — almost all microglial genes (Mic__*). Every communication factor is dropped.</a:t>
            </a:r>
            <a:endParaRPr lang="en-US" sz="1150" dirty="0"/>
          </a:p>
        </p:txBody>
      </p:sp>
      <p:sp>
        <p:nvSpPr>
          <p:cNvPr id="6" name="Text 3"/>
          <p:cNvSpPr/>
          <p:nvPr/>
        </p:nvSpPr>
        <p:spPr>
          <a:xfrm>
            <a:off x="548640" y="5212080"/>
            <a:ext cx="10972800" cy="914400"/>
          </a:xfrm>
          <a:prstGeom prst="rect">
            <a:avLst/>
          </a:prstGeom>
          <a:noFill/>
          <a:ln/>
        </p:spPr>
        <p:txBody>
          <a:bodyPr wrap="square" lIns="0" tIns="0" rIns="0" bIns="0" rtlCol="0" anchor="t"/>
          <a:lstStyle/>
          <a:p>
            <a:pPr algn="ctr" indent="0" marL="0">
              <a:lnSpc>
                <a:spcPct val="112000"/>
              </a:lnSpc>
              <a:buNone/>
            </a:pPr>
            <a:r>
              <a:rPr lang="en-US" sz="1500" dirty="0">
                <a:solidFill>
                  <a:srgbClr val="12343B"/>
                </a:solidFill>
                <a:latin typeface="Arial" pitchFamily="34" charset="0"/>
                <a:ea typeface="Arial" pitchFamily="34" charset="-122"/>
                <a:cs typeface="Arial" pitchFamily="34" charset="-120"/>
              </a:rPr>
              <a:t>Given variance-top-1000 genes + 5 factors, feature selection keeps </a:t>
            </a:r>
            <a:pPr algn="ctr" indent="0" marL="0">
              <a:lnSpc>
                <a:spcPct val="112000"/>
              </a:lnSpc>
              <a:buNone/>
            </a:pPr>
            <a:r>
              <a:rPr lang="en-US" sz="1500" b="1" dirty="0">
                <a:solidFill>
                  <a:srgbClr val="C0392B"/>
                </a:solidFill>
                <a:latin typeface="Arial" pitchFamily="34" charset="0"/>
                <a:ea typeface="Arial" pitchFamily="34" charset="-122"/>
                <a:cs typeface="Arial" pitchFamily="34" charset="-120"/>
              </a:rPr>
              <a:t>15 genes and discards every factor</a:t>
            </a:r>
            <a:pPr algn="ctr" indent="0" marL="0">
              <a:lnSpc>
                <a:spcPct val="112000"/>
              </a:lnSpc>
              <a:buNone/>
            </a:pPr>
            <a:r>
              <a:rPr lang="en-US" sz="1500" dirty="0">
                <a:solidFill>
                  <a:srgbClr val="12343B"/>
                </a:solidFill>
                <a:latin typeface="Arial" pitchFamily="34" charset="0"/>
                <a:ea typeface="Arial" pitchFamily="34" charset="-122"/>
                <a:cs typeface="Arial" pitchFamily="34" charset="-120"/>
              </a:rPr>
              <a:t>.  This is the feature-level reason combined adds no value: the program is a </a:t>
            </a:r>
            <a:pPr algn="ctr" indent="0" marL="0">
              <a:lnSpc>
                <a:spcPct val="112000"/>
              </a:lnSpc>
              <a:buNone/>
            </a:pPr>
            <a:r>
              <a:rPr lang="en-US" sz="1500" b="1" dirty="0">
                <a:solidFill>
                  <a:srgbClr val="12343B"/>
                </a:solidFill>
                <a:latin typeface="Arial" pitchFamily="34" charset="0"/>
                <a:ea typeface="Arial" pitchFamily="34" charset="-122"/>
                <a:cs typeface="Arial" pitchFamily="34" charset="-120"/>
              </a:rPr>
              <a:t>low-rank summary of microglial state</a:t>
            </a:r>
            <a:pPr algn="ctr" indent="0" marL="0">
              <a:lnSpc>
                <a:spcPct val="112000"/>
              </a:lnSpc>
              <a:buNone/>
            </a:pPr>
            <a:r>
              <a:rPr lang="en-US" sz="1500" dirty="0">
                <a:solidFill>
                  <a:srgbClr val="12343B"/>
                </a:solidFill>
                <a:latin typeface="Arial" pitchFamily="34" charset="0"/>
                <a:ea typeface="Arial" pitchFamily="34" charset="-122"/>
                <a:cs typeface="Arial" pitchFamily="34" charset="-120"/>
              </a:rPr>
              <a:t>, captured at least as well by the raw Mic genes.</a:t>
            </a:r>
            <a:endParaRPr lang="en-US" sz="1500" dirty="0"/>
          </a:p>
        </p:txBody>
      </p:sp>
      <p:sp>
        <p:nvSpPr>
          <p:cNvPr id="7" name="Text 4"/>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PHASE D · LEAKAGE-SAFE VIEW</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Remove the leak, and Factor 4 leads</a:t>
            </a:r>
            <a:endParaRPr lang="en-US" sz="3000" dirty="0"/>
          </a:p>
        </p:txBody>
      </p:sp>
      <p:pic>
        <p:nvPicPr>
          <p:cNvPr id="4" name="Image 0" descr="figures/step4_shap_beeswarm_infold_overall.png">    </p:cNvPr>
          <p:cNvPicPr>
            <a:picLocks noChangeAspect="1"/>
          </p:cNvPicPr>
          <p:nvPr/>
        </p:nvPicPr>
        <p:blipFill>
          <a:blip r:embed="rId1"/>
          <a:stretch>
            <a:fillRect/>
          </a:stretch>
        </p:blipFill>
        <p:spPr>
          <a:xfrm>
            <a:off x="685800" y="1783080"/>
            <a:ext cx="5522768" cy="2743200"/>
          </a:xfrm>
          <a:prstGeom prst="rect">
            <a:avLst/>
          </a:prstGeom>
        </p:spPr>
      </p:pic>
      <p:sp>
        <p:nvSpPr>
          <p:cNvPr id="5" name="Text 2"/>
          <p:cNvSpPr/>
          <p:nvPr/>
        </p:nvSpPr>
        <p:spPr>
          <a:xfrm>
            <a:off x="548640" y="4709160"/>
            <a:ext cx="5797088" cy="457200"/>
          </a:xfrm>
          <a:prstGeom prst="rect">
            <a:avLst/>
          </a:prstGeom>
          <a:noFill/>
          <a:ln/>
        </p:spPr>
        <p:txBody>
          <a:bodyPr wrap="square" lIns="0" tIns="0" rIns="0" bIns="0" rtlCol="0" anchor="t"/>
          <a:lstStyle/>
          <a:p>
            <a:pPr algn="ctr" indent="0" marL="0">
              <a:buNone/>
            </a:pPr>
            <a:r>
              <a:rPr lang="en-US" sz="1150" i="1" dirty="0">
                <a:solidFill>
                  <a:srgbClr val="5A6B72"/>
                </a:solidFill>
                <a:latin typeface="Arial" pitchFamily="34" charset="0"/>
                <a:ea typeface="Arial" pitchFamily="34" charset="-122"/>
                <a:cs typeface="Arial" pitchFamily="34" charset="-120"/>
              </a:rPr>
              <a:t>In-fold (leakage-safe) factors on held-out donors, pooled across 3 CV rounds (71 × 3 = 213).</a:t>
            </a:r>
            <a:endParaRPr lang="en-US" sz="1150" dirty="0"/>
          </a:p>
        </p:txBody>
      </p:sp>
      <p:sp>
        <p:nvSpPr>
          <p:cNvPr id="6" name="Shape 3"/>
          <p:cNvSpPr/>
          <p:nvPr/>
        </p:nvSpPr>
        <p:spPr>
          <a:xfrm>
            <a:off x="7040880" y="1828800"/>
            <a:ext cx="4572000" cy="1234440"/>
          </a:xfrm>
          <a:prstGeom prst="roundRect">
            <a:avLst>
              <a:gd name="adj" fmla="val 5926"/>
            </a:avLst>
          </a:prstGeom>
          <a:solidFill>
            <a:srgbClr val="EEF4F5"/>
          </a:solidFill>
          <a:ln/>
          <a:effectLst>
            <a:outerShdw sx="100000" sy="100000" kx="0" ky="0" algn="bl" rotWithShape="0" blurRad="88900" dist="38100" dir="5400000">
              <a:srgbClr val="000000">
                <a:alpha val="13000"/>
              </a:srgbClr>
            </a:outerShdw>
          </a:effectLst>
        </p:spPr>
      </p:sp>
      <p:sp>
        <p:nvSpPr>
          <p:cNvPr id="7" name="Text 4"/>
          <p:cNvSpPr/>
          <p:nvPr/>
        </p:nvSpPr>
        <p:spPr>
          <a:xfrm>
            <a:off x="7315200" y="1965960"/>
            <a:ext cx="4023360" cy="960120"/>
          </a:xfrm>
          <a:prstGeom prst="rect">
            <a:avLst/>
          </a:prstGeom>
          <a:noFill/>
          <a:ln/>
        </p:spPr>
        <p:txBody>
          <a:bodyPr wrap="square" lIns="0" tIns="0" rIns="0" bIns="0" rtlCol="0" anchor="ctr"/>
          <a:lstStyle/>
          <a:p>
            <a:pPr indent="0" marL="0">
              <a:lnSpc>
                <a:spcPct val="105000"/>
              </a:lnSpc>
              <a:buNone/>
            </a:pPr>
            <a:r>
              <a:rPr lang="en-US" sz="2600" b="1" dirty="0">
                <a:solidFill>
                  <a:srgbClr val="0E7C86"/>
                </a:solidFill>
                <a:latin typeface="Arial" pitchFamily="34" charset="0"/>
                <a:ea typeface="Arial" pitchFamily="34" charset="-122"/>
                <a:cs typeface="Arial" pitchFamily="34" charset="-120"/>
              </a:rPr>
              <a:t>0.649
</a:t>
            </a:r>
            <a:pPr indent="0" marL="0">
              <a:lnSpc>
                <a:spcPct val="105000"/>
              </a:lnSpc>
              <a:buNone/>
            </a:pPr>
            <a:r>
              <a:rPr lang="en-US" sz="1250" dirty="0">
                <a:solidFill>
                  <a:srgbClr val="5A6B72"/>
                </a:solidFill>
                <a:latin typeface="Arial" pitchFamily="34" charset="0"/>
                <a:ea typeface="Arial" pitchFamily="34" charset="-122"/>
                <a:cs typeface="Arial" pitchFamily="34" charset="-120"/>
              </a:rPr>
              <a:t>held-out AUC — matches the rigorous 0.633, validating the in-fold path</a:t>
            </a:r>
            <a:endParaRPr lang="en-US" sz="2600" dirty="0"/>
          </a:p>
        </p:txBody>
      </p:sp>
      <p:sp>
        <p:nvSpPr>
          <p:cNvPr id="8" name="Shape 5"/>
          <p:cNvSpPr/>
          <p:nvPr/>
        </p:nvSpPr>
        <p:spPr>
          <a:xfrm>
            <a:off x="7040880" y="3200400"/>
            <a:ext cx="4572000" cy="1828800"/>
          </a:xfrm>
          <a:prstGeom prst="roundRect">
            <a:avLst>
              <a:gd name="adj" fmla="val 4000"/>
            </a:avLst>
          </a:prstGeom>
          <a:solidFill>
            <a:srgbClr val="FBEDEB"/>
          </a:solidFill>
          <a:ln/>
          <a:effectLst>
            <a:outerShdw sx="100000" sy="100000" kx="0" ky="0" algn="bl" rotWithShape="0" blurRad="88900" dist="38100" dir="5400000">
              <a:srgbClr val="000000">
                <a:alpha val="13000"/>
              </a:srgbClr>
            </a:outerShdw>
          </a:effectLst>
        </p:spPr>
      </p:sp>
      <p:sp>
        <p:nvSpPr>
          <p:cNvPr id="9" name="Text 6"/>
          <p:cNvSpPr/>
          <p:nvPr/>
        </p:nvSpPr>
        <p:spPr>
          <a:xfrm>
            <a:off x="7315200" y="3383280"/>
            <a:ext cx="4023360" cy="1554480"/>
          </a:xfrm>
          <a:prstGeom prst="rect">
            <a:avLst/>
          </a:prstGeom>
          <a:noFill/>
          <a:ln/>
        </p:spPr>
        <p:txBody>
          <a:bodyPr wrap="square" lIns="0" tIns="0" rIns="0" bIns="0" rtlCol="0" anchor="t"/>
          <a:lstStyle/>
          <a:p>
            <a:pPr indent="0" marL="0">
              <a:lnSpc>
                <a:spcPct val="112000"/>
              </a:lnSpc>
              <a:buNone/>
            </a:pPr>
            <a:r>
              <a:rPr lang="en-US" sz="1600" b="1" dirty="0">
                <a:solidFill>
                  <a:srgbClr val="C0392B"/>
                </a:solidFill>
                <a:latin typeface="Arial" pitchFamily="34" charset="0"/>
                <a:ea typeface="Arial" pitchFamily="34" charset="-122"/>
                <a:cs typeface="Arial" pitchFamily="34" charset="-120"/>
              </a:rPr>
              <a:t>Factor 4 → #1 communication factor
</a:t>
            </a:r>
            <a:endParaRPr lang="en-US" sz="1600" dirty="0"/>
          </a:p>
          <a:p>
            <a:pPr indent="0" marL="0">
              <a:lnSpc>
                <a:spcPct val="112000"/>
              </a:lnSpc>
              <a:buNone/>
            </a:pPr>
            <a:r>
              <a:rPr lang="en-US" sz="1400" dirty="0">
                <a:solidFill>
                  <a:srgbClr val="12343B"/>
                </a:solidFill>
                <a:latin typeface="Arial" pitchFamily="34" charset="0"/>
                <a:ea typeface="Arial" pitchFamily="34" charset="-122"/>
                <a:cs typeface="Arial" pitchFamily="34" charset="-120"/>
              </a:rPr>
              <a:t>mean|SHAP| 0.610, again stronger in males (0.651) than females (0.575).  Removing the mild all-donor leak makes the axis </a:t>
            </a:r>
            <a:pPr indent="0" marL="0">
              <a:lnSpc>
                <a:spcPct val="112000"/>
              </a:lnSpc>
              <a:buNone/>
            </a:pPr>
            <a:r>
              <a:rPr lang="en-US" sz="1400" b="1" i="1" dirty="0">
                <a:solidFill>
                  <a:srgbClr val="12343B"/>
                </a:solidFill>
                <a:latin typeface="Arial" pitchFamily="34" charset="0"/>
                <a:ea typeface="Arial" pitchFamily="34" charset="-122"/>
                <a:cs typeface="Arial" pitchFamily="34" charset="-120"/>
              </a:rPr>
              <a:t>more</a:t>
            </a:r>
            <a:pPr indent="0" marL="0">
              <a:lnSpc>
                <a:spcPct val="112000"/>
              </a:lnSpc>
              <a:buNone/>
            </a:pPr>
            <a:r>
              <a:rPr lang="en-US" sz="1400" dirty="0">
                <a:solidFill>
                  <a:srgbClr val="12343B"/>
                </a:solidFill>
                <a:latin typeface="Arial" pitchFamily="34" charset="0"/>
                <a:ea typeface="Arial" pitchFamily="34" charset="-122"/>
                <a:cs typeface="Arial" pitchFamily="34" charset="-120"/>
              </a:rPr>
              <a:t> prominent, not less.</a:t>
            </a:r>
            <a:endParaRPr lang="en-US" sz="1600" dirty="0"/>
          </a:p>
        </p:txBody>
      </p:sp>
      <p:sp>
        <p:nvSpPr>
          <p:cNvPr id="10" name="Text 7"/>
          <p:cNvSpPr/>
          <p:nvPr/>
        </p:nvSpPr>
        <p:spPr>
          <a:xfrm>
            <a:off x="548640" y="5349240"/>
            <a:ext cx="10972800" cy="457200"/>
          </a:xfrm>
          <a:prstGeom prst="rect">
            <a:avLst/>
          </a:prstGeom>
          <a:noFill/>
          <a:ln/>
        </p:spPr>
        <p:txBody>
          <a:bodyPr wrap="square" lIns="0" tIns="0" rIns="0" bIns="0" rtlCol="0" anchor="ctr"/>
          <a:lstStyle/>
          <a:p>
            <a:pPr algn="ctr" indent="0" marL="0">
              <a:buNone/>
            </a:pPr>
            <a:r>
              <a:rPr lang="en-US" sz="1500" i="1" dirty="0">
                <a:solidFill>
                  <a:srgbClr val="5A6B72"/>
                </a:solidFill>
                <a:latin typeface="Arial" pitchFamily="34" charset="0"/>
                <a:ea typeface="Arial" pitchFamily="34" charset="-122"/>
                <a:cs typeface="Arial" pitchFamily="34" charset="-120"/>
              </a:rPr>
              <a:t>So the biology is robust to the strictest leakage control.</a:t>
            </a:r>
            <a:endParaRPr lang="en-US" sz="1500" dirty="0"/>
          </a:p>
        </p:txBody>
      </p:sp>
      <p:sp>
        <p:nvSpPr>
          <p:cNvPr id="11" name="Text 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5563"/>
        </a:solidFill>
      </p:bgPr>
    </p:bg>
    <p:spTree>
      <p:nvGrpSpPr>
        <p:cNvPr id="1" name=""/>
        <p:cNvGrpSpPr/>
        <p:nvPr/>
      </p:nvGrpSpPr>
      <p:grpSpPr>
        <a:xfrm>
          <a:off x="0" y="0"/>
          <a:ext cx="0" cy="0"/>
          <a:chOff x="0" y="0"/>
          <a:chExt cx="0" cy="0"/>
        </a:xfrm>
      </p:grpSpPr>
      <p:sp>
        <p:nvSpPr>
          <p:cNvPr id="2" name="Text 0"/>
          <p:cNvSpPr/>
          <p:nvPr/>
        </p:nvSpPr>
        <p:spPr>
          <a:xfrm>
            <a:off x="548640" y="548640"/>
            <a:ext cx="10058400" cy="320040"/>
          </a:xfrm>
          <a:prstGeom prst="rect">
            <a:avLst/>
          </a:prstGeom>
          <a:noFill/>
          <a:ln/>
        </p:spPr>
        <p:txBody>
          <a:bodyPr wrap="square" lIns="0" tIns="0" rIns="0" bIns="0" rtlCol="0" anchor="ctr"/>
          <a:lstStyle/>
          <a:p>
            <a:pPr indent="0" marL="0">
              <a:buNone/>
            </a:pPr>
            <a:r>
              <a:rPr lang="en-US" sz="1300" b="1" spc="300" kern="0" dirty="0">
                <a:solidFill>
                  <a:srgbClr val="5FB0B7"/>
                </a:solidFill>
                <a:latin typeface="Arial" pitchFamily="34" charset="0"/>
                <a:ea typeface="Arial" pitchFamily="34" charset="-122"/>
                <a:cs typeface="Arial" pitchFamily="34" charset="-120"/>
              </a:rPr>
              <a:t>DISCUSSION</a:t>
            </a:r>
            <a:endParaRPr lang="en-US" sz="1300" dirty="0"/>
          </a:p>
        </p:txBody>
      </p:sp>
      <p:sp>
        <p:nvSpPr>
          <p:cNvPr id="3" name="Text 1"/>
          <p:cNvSpPr/>
          <p:nvPr/>
        </p:nvSpPr>
        <p:spPr>
          <a:xfrm>
            <a:off x="548640" y="86868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coherent, two-part answer</a:t>
            </a:r>
            <a:endParaRPr lang="en-US" sz="3200" dirty="0"/>
          </a:p>
        </p:txBody>
      </p:sp>
      <p:sp>
        <p:nvSpPr>
          <p:cNvPr id="4" name="Shape 2"/>
          <p:cNvSpPr/>
          <p:nvPr/>
        </p:nvSpPr>
        <p:spPr>
          <a:xfrm>
            <a:off x="548640" y="1920240"/>
            <a:ext cx="5212080" cy="3749040"/>
          </a:xfrm>
          <a:prstGeom prst="roundRect">
            <a:avLst>
              <a:gd name="adj" fmla="val 2439"/>
            </a:avLst>
          </a:prstGeom>
          <a:solidFill>
            <a:srgbClr val="0E6E78"/>
          </a:solidFill>
          <a:ln/>
          <a:effectLst>
            <a:outerShdw sx="100000" sy="100000" kx="0" ky="0" algn="bl" rotWithShape="0" blurRad="88900" dist="38100" dir="5400000">
              <a:srgbClr val="000000">
                <a:alpha val="13000"/>
              </a:srgbClr>
            </a:outerShdw>
          </a:effectLst>
        </p:spPr>
      </p:sp>
      <p:sp>
        <p:nvSpPr>
          <p:cNvPr id="5" name="Text 3"/>
          <p:cNvSpPr/>
          <p:nvPr/>
        </p:nvSpPr>
        <p:spPr>
          <a:xfrm>
            <a:off x="914400" y="2240280"/>
            <a:ext cx="4480560" cy="36576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  THE BIOLOGY IS SUPPORTED</a:t>
            </a:r>
            <a:endParaRPr lang="en-US" sz="1500" dirty="0"/>
          </a:p>
        </p:txBody>
      </p:sp>
      <p:sp>
        <p:nvSpPr>
          <p:cNvPr id="6" name="Text 4"/>
          <p:cNvSpPr/>
          <p:nvPr/>
        </p:nvSpPr>
        <p:spPr>
          <a:xfrm>
            <a:off x="914400" y="2697480"/>
            <a:ext cx="4480560" cy="2651760"/>
          </a:xfrm>
          <a:prstGeom prst="rect">
            <a:avLst/>
          </a:prstGeom>
          <a:noFill/>
          <a:ln/>
        </p:spPr>
        <p:txBody>
          <a:bodyPr wrap="square" lIns="0" tIns="0" rIns="0" bIns="0" rtlCol="0" anchor="t"/>
          <a:lstStyle/>
          <a:p>
            <a:pPr indent="0" marL="0">
              <a:lnSpc>
                <a:spcPct val="110000"/>
              </a:lnSpc>
              <a:buNone/>
            </a:pPr>
            <a:r>
              <a:rPr lang="en-US" sz="1400" dirty="0">
                <a:solidFill>
                  <a:srgbClr val="E8F3F4"/>
                </a:solidFill>
                <a:latin typeface="Arial" pitchFamily="34" charset="0"/>
                <a:ea typeface="Arial" pitchFamily="34" charset="-122"/>
                <a:cs typeface="Arial" pitchFamily="34" charset="-120"/>
              </a:rPr>
              <a:t>Factor 4 is the dominant, reproducible communication program.
</a:t>
            </a:r>
            <a:endParaRPr lang="en-US" sz="1400" dirty="0"/>
          </a:p>
          <a:p>
            <a:pPr indent="0" marL="0">
              <a:lnSpc>
                <a:spcPct val="110000"/>
              </a:lnSpc>
              <a:buNone/>
            </a:pPr>
            <a:r>
              <a:rPr lang="en-US" sz="1400" dirty="0">
                <a:solidFill>
                  <a:srgbClr val="E8F3F4"/>
                </a:solidFill>
                <a:latin typeface="Arial" pitchFamily="34" charset="0"/>
                <a:ea typeface="Arial" pitchFamily="34" charset="-122"/>
                <a:cs typeface="Arial" pitchFamily="34" charset="-120"/>
              </a:rPr>
              <a:t>It self-separates from the batch confound, leans toward MDD in both sexes, and becomes the #1 communication feature under leakage-safe estimation.
</a:t>
            </a:r>
            <a:endParaRPr lang="en-US" sz="1400" dirty="0"/>
          </a:p>
          <a:p>
            <a:pPr indent="0" marL="0">
              <a:lnSpc>
                <a:spcPct val="110000"/>
              </a:lnSpc>
              <a:buNone/>
            </a:pPr>
            <a:r>
              <a:rPr lang="en-US" sz="1400" dirty="0">
                <a:solidFill>
                  <a:srgbClr val="E8F3F4"/>
                </a:solidFill>
                <a:latin typeface="Arial" pitchFamily="34" charset="0"/>
                <a:ea typeface="Arial" pitchFamily="34" charset="-122"/>
                <a:cs typeface="Arial" pitchFamily="34" charset="-120"/>
              </a:rPr>
              <a:t>Directionally supports the shared microglia → neuron axis. L–R drivers (synaptic, glutamatergic, Ca²⁺; CACNA1C, IL1RAPL1) are biologically sensible.</a:t>
            </a:r>
            <a:endParaRPr lang="en-US" sz="1400" dirty="0"/>
          </a:p>
        </p:txBody>
      </p:sp>
      <p:sp>
        <p:nvSpPr>
          <p:cNvPr id="7" name="Shape 5"/>
          <p:cNvSpPr/>
          <p:nvPr/>
        </p:nvSpPr>
        <p:spPr>
          <a:xfrm>
            <a:off x="6217920" y="1920240"/>
            <a:ext cx="5212080" cy="3749040"/>
          </a:xfrm>
          <a:prstGeom prst="roundRect">
            <a:avLst>
              <a:gd name="adj" fmla="val 2439"/>
            </a:avLst>
          </a:prstGeom>
          <a:solidFill>
            <a:srgbClr val="9E342A"/>
          </a:solidFill>
          <a:ln/>
          <a:effectLst>
            <a:outerShdw sx="100000" sy="100000" kx="0" ky="0" algn="bl" rotWithShape="0" blurRad="88900" dist="38100" dir="5400000">
              <a:srgbClr val="000000">
                <a:alpha val="13000"/>
              </a:srgbClr>
            </a:outerShdw>
          </a:effectLst>
        </p:spPr>
      </p:sp>
      <p:sp>
        <p:nvSpPr>
          <p:cNvPr id="8" name="Text 6"/>
          <p:cNvSpPr/>
          <p:nvPr/>
        </p:nvSpPr>
        <p:spPr>
          <a:xfrm>
            <a:off x="6583680" y="2240280"/>
            <a:ext cx="4480560" cy="36576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  BUT IT ADDS NO PREDICTIVE VALUE</a:t>
            </a:r>
            <a:endParaRPr lang="en-US" sz="1500" dirty="0"/>
          </a:p>
        </p:txBody>
      </p:sp>
      <p:sp>
        <p:nvSpPr>
          <p:cNvPr id="9" name="Text 7"/>
          <p:cNvSpPr/>
          <p:nvPr/>
        </p:nvSpPr>
        <p:spPr>
          <a:xfrm>
            <a:off x="6583680" y="2697480"/>
            <a:ext cx="4480560" cy="2651760"/>
          </a:xfrm>
          <a:prstGeom prst="rect">
            <a:avLst/>
          </a:prstGeom>
          <a:noFill/>
          <a:ln/>
        </p:spPr>
        <p:txBody>
          <a:bodyPr wrap="square" lIns="0" tIns="0" rIns="0" bIns="0" rtlCol="0" anchor="t"/>
          <a:lstStyle/>
          <a:p>
            <a:pPr indent="0" marL="0">
              <a:lnSpc>
                <a:spcPct val="110000"/>
              </a:lnSpc>
              <a:buNone/>
            </a:pPr>
            <a:r>
              <a:rPr lang="en-US" sz="1400" dirty="0">
                <a:solidFill>
                  <a:srgbClr val="F7E7E4"/>
                </a:solidFill>
                <a:latin typeface="Arial" pitchFamily="34" charset="0"/>
                <a:ea typeface="Arial" pitchFamily="34" charset="-122"/>
                <a:cs typeface="Arial" pitchFamily="34" charset="-120"/>
              </a:rPr>
              <a:t>When factors and genes compete, mRMR discards every factor; combined never CI-separates from expression.
</a:t>
            </a:r>
            <a:endParaRPr lang="en-US" sz="1400" dirty="0"/>
          </a:p>
          <a:p>
            <a:pPr indent="0" marL="0">
              <a:lnSpc>
                <a:spcPct val="110000"/>
              </a:lnSpc>
              <a:buNone/>
            </a:pPr>
            <a:r>
              <a:rPr lang="en-US" sz="1400" dirty="0">
                <a:solidFill>
                  <a:srgbClr val="F7E7E4"/>
                </a:solidFill>
                <a:latin typeface="Arial" pitchFamily="34" charset="0"/>
                <a:ea typeface="Arial" pitchFamily="34" charset="-122"/>
                <a:cs typeface="Arial" pitchFamily="34" charset="-120"/>
              </a:rPr>
              <a:t>This is expected, not paradoxical: communication is derived from expression. A rank-5 program is a lossy summary of the same microglial state the raw genes encode at full resolution.
</a:t>
            </a:r>
            <a:endParaRPr lang="en-US" sz="1400" dirty="0"/>
          </a:p>
          <a:p>
            <a:pPr indent="0" marL="0">
              <a:lnSpc>
                <a:spcPct val="110000"/>
              </a:lnSpc>
              <a:buNone/>
            </a:pPr>
            <a:r>
              <a:rPr lang="en-US" sz="1400" b="1" dirty="0">
                <a:solidFill>
                  <a:srgbClr val="F7E7E4"/>
                </a:solidFill>
                <a:latin typeface="Arial" pitchFamily="34" charset="0"/>
                <a:ea typeface="Arial" pitchFamily="34" charset="-122"/>
                <a:cs typeface="Arial" pitchFamily="34" charset="-120"/>
              </a:rPr>
              <a:t>At n = 71 the compression buys interpretability, not discriminative power.</a:t>
            </a:r>
            <a:endParaRPr lang="en-US" sz="1400" dirty="0"/>
          </a:p>
        </p:txBody>
      </p:sp>
      <p:sp>
        <p:nvSpPr>
          <p:cNvPr id="10" name="Text 8"/>
          <p:cNvSpPr/>
          <p:nvPr/>
        </p:nvSpPr>
        <p:spPr>
          <a:xfrm>
            <a:off x="548640" y="5897880"/>
            <a:ext cx="11091672" cy="457200"/>
          </a:xfrm>
          <a:prstGeom prst="rect">
            <a:avLst/>
          </a:prstGeom>
          <a:noFill/>
          <a:ln/>
        </p:spPr>
        <p:txBody>
          <a:bodyPr wrap="square" lIns="0" tIns="0" rIns="0" bIns="0" rtlCol="0" anchor="ctr"/>
          <a:lstStyle/>
          <a:p>
            <a:pPr algn="ctr" indent="0" marL="0">
              <a:buNone/>
            </a:pPr>
            <a:r>
              <a:rPr lang="en-US" sz="1900" b="1" i="1" dirty="0">
                <a:solidFill>
                  <a:srgbClr val="5FB0B7"/>
                </a:solidFill>
                <a:latin typeface="Cambria" pitchFamily="34" charset="0"/>
                <a:ea typeface="Cambria" pitchFamily="34" charset="-122"/>
                <a:cs typeface="Cambria" pitchFamily="34" charset="-120"/>
              </a:rPr>
              <a:t>The signal is real, but not independent.</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Arial" pitchFamily="34" charset="0"/>
                <a:ea typeface="Arial" pitchFamily="34" charset="-122"/>
                <a:cs typeface="Arial" pitchFamily="34" charset="-120"/>
              </a:rPr>
              <a:t>CONCLUSION</a:t>
            </a:r>
            <a:endParaRPr lang="en-US" sz="1200" dirty="0"/>
          </a:p>
        </p:txBody>
      </p:sp>
      <p:sp>
        <p:nvSpPr>
          <p:cNvPr id="3" name="Text 1"/>
          <p:cNvSpPr/>
          <p:nvPr/>
        </p:nvSpPr>
        <p:spPr>
          <a:xfrm>
            <a:off x="548640" y="658368"/>
            <a:ext cx="11091672" cy="777240"/>
          </a:xfrm>
          <a:prstGeom prst="rect">
            <a:avLst/>
          </a:prstGeom>
          <a:noFill/>
          <a:ln/>
        </p:spPr>
        <p:txBody>
          <a:bodyPr wrap="square" lIns="0" tIns="0" rIns="0" bIns="0" rtlCol="0" anchor="t"/>
          <a:lstStyle/>
          <a:p>
            <a:pPr indent="0" marL="0">
              <a:buNone/>
            </a:pPr>
            <a:r>
              <a:rPr lang="en-US" sz="3000" b="1" dirty="0">
                <a:solidFill>
                  <a:srgbClr val="12343B"/>
                </a:solidFill>
                <a:latin typeface="Cambria" pitchFamily="34" charset="0"/>
                <a:ea typeface="Cambria" pitchFamily="34" charset="-122"/>
                <a:cs typeface="Cambria" pitchFamily="34" charset="-120"/>
              </a:rPr>
              <a:t>A qualified yes — honest by design</a:t>
            </a:r>
            <a:endParaRPr lang="en-US" sz="3000" dirty="0"/>
          </a:p>
        </p:txBody>
      </p:sp>
      <p:sp>
        <p:nvSpPr>
          <p:cNvPr id="4" name="Text 2"/>
          <p:cNvSpPr/>
          <p:nvPr/>
        </p:nvSpPr>
        <p:spPr>
          <a:xfrm>
            <a:off x="548640" y="1737360"/>
            <a:ext cx="6766560" cy="2743200"/>
          </a:xfrm>
          <a:prstGeom prst="rect">
            <a:avLst/>
          </a:prstGeom>
          <a:noFill/>
          <a:ln/>
        </p:spPr>
        <p:txBody>
          <a:bodyPr wrap="square" lIns="0" tIns="0" rIns="0" bIns="0" rtlCol="0" anchor="t"/>
          <a:lstStyle/>
          <a:p>
            <a:pPr indent="0" marL="0">
              <a:lnSpc>
                <a:spcPct val="118000"/>
              </a:lnSpc>
              <a:buNone/>
            </a:pPr>
            <a:r>
              <a:rPr lang="en-US" sz="1600" dirty="0">
                <a:solidFill>
                  <a:srgbClr val="12343B"/>
                </a:solidFill>
                <a:latin typeface="Arial" pitchFamily="34" charset="0"/>
                <a:ea typeface="Arial" pitchFamily="34" charset="-122"/>
                <a:cs typeface="Arial" pitchFamily="34" charset="-120"/>
              </a:rPr>
              <a:t>Modelling cell–cell communication recovers a single, reproducible microglia → ExN10_L46 program, elevated in MDD donors of both sexes and the most important communication feature under leakage-safe estimation — </a:t>
            </a:r>
            <a:pPr indent="0" marL="0">
              <a:lnSpc>
                <a:spcPct val="118000"/>
              </a:lnSpc>
              <a:buNone/>
            </a:pPr>
            <a:r>
              <a:rPr lang="en-US" sz="1600" b="1" dirty="0">
                <a:solidFill>
                  <a:srgbClr val="0E7C86"/>
                </a:solidFill>
                <a:latin typeface="Arial" pitchFamily="34" charset="0"/>
                <a:ea typeface="Arial" pitchFamily="34" charset="-122"/>
                <a:cs typeface="Arial" pitchFamily="34" charset="-120"/>
              </a:rPr>
              <a:t>directionally supporting</a:t>
            </a:r>
            <a:pPr indent="0" marL="0">
              <a:lnSpc>
                <a:spcPct val="118000"/>
              </a:lnSpc>
              <a:buNone/>
            </a:pPr>
            <a:r>
              <a:rPr lang="en-US" sz="1600" dirty="0">
                <a:solidFill>
                  <a:srgbClr val="12343B"/>
                </a:solidFill>
                <a:latin typeface="Arial" pitchFamily="34" charset="0"/>
                <a:ea typeface="Arial" pitchFamily="34" charset="-122"/>
                <a:cs typeface="Arial" pitchFamily="34" charset="-120"/>
              </a:rPr>
              <a:t> the shared-axis hypothesis.  But it carries </a:t>
            </a:r>
            <a:pPr indent="0" marL="0">
              <a:lnSpc>
                <a:spcPct val="118000"/>
              </a:lnSpc>
              <a:buNone/>
            </a:pPr>
            <a:r>
              <a:rPr lang="en-US" sz="1600" b="1" dirty="0">
                <a:solidFill>
                  <a:srgbClr val="C0392B"/>
                </a:solidFill>
                <a:latin typeface="Arial" pitchFamily="34" charset="0"/>
                <a:ea typeface="Arial" pitchFamily="34" charset="-122"/>
                <a:cs typeface="Arial" pitchFamily="34" charset="-120"/>
              </a:rPr>
              <a:t>no predictive information independent of microglial expression</a:t>
            </a:r>
            <a:pPr indent="0" marL="0">
              <a:lnSpc>
                <a:spcPct val="118000"/>
              </a:lnSpc>
              <a:buNone/>
            </a:pPr>
            <a:r>
              <a:rPr lang="en-US" sz="1600" dirty="0">
                <a:solidFill>
                  <a:srgbClr val="12343B"/>
                </a:solidFill>
                <a:latin typeface="Arial" pitchFamily="34" charset="0"/>
                <a:ea typeface="Arial" pitchFamily="34" charset="-122"/>
                <a:cs typeface="Arial" pitchFamily="34" charset="-120"/>
              </a:rPr>
              <a:t> at n = 71: when the two compete, expression wins.</a:t>
            </a:r>
            <a:endParaRPr lang="en-US" sz="1600" dirty="0"/>
          </a:p>
        </p:txBody>
      </p:sp>
      <p:sp>
        <p:nvSpPr>
          <p:cNvPr id="5" name="Text 3"/>
          <p:cNvSpPr/>
          <p:nvPr/>
        </p:nvSpPr>
        <p:spPr>
          <a:xfrm>
            <a:off x="548640" y="4343400"/>
            <a:ext cx="6766560" cy="1097280"/>
          </a:xfrm>
          <a:prstGeom prst="rect">
            <a:avLst/>
          </a:prstGeom>
          <a:noFill/>
          <a:ln/>
        </p:spPr>
        <p:txBody>
          <a:bodyPr wrap="square" lIns="0" tIns="0" rIns="0" bIns="0" rtlCol="0" anchor="t"/>
          <a:lstStyle/>
          <a:p>
            <a:pPr indent="0" marL="0">
              <a:lnSpc>
                <a:spcPct val="115000"/>
              </a:lnSpc>
              <a:buNone/>
            </a:pPr>
            <a:r>
              <a:rPr lang="en-US" sz="1600" i="1" dirty="0">
                <a:solidFill>
                  <a:srgbClr val="0B5563"/>
                </a:solidFill>
                <a:latin typeface="Cambria" pitchFamily="34" charset="0"/>
                <a:ea typeface="Cambria" pitchFamily="34" charset="-122"/>
                <a:cs typeface="Cambria" pitchFamily="34" charset="-120"/>
              </a:rPr>
              <a:t>The shared axis is visible and real — a low-rank shadow of microglial transcriptional state, not an independent, value-adding signal.</a:t>
            </a:r>
            <a:endParaRPr lang="en-US" sz="1600" dirty="0"/>
          </a:p>
        </p:txBody>
      </p:sp>
      <p:sp>
        <p:nvSpPr>
          <p:cNvPr id="6" name="Shape 4"/>
          <p:cNvSpPr/>
          <p:nvPr/>
        </p:nvSpPr>
        <p:spPr>
          <a:xfrm>
            <a:off x="7589520" y="1737360"/>
            <a:ext cx="4069080" cy="4160520"/>
          </a:xfrm>
          <a:prstGeom prst="roundRect">
            <a:avLst>
              <a:gd name="adj" fmla="val 1798"/>
            </a:avLst>
          </a:prstGeom>
          <a:solidFill>
            <a:srgbClr val="EEF4F5"/>
          </a:solidFill>
          <a:ln/>
          <a:effectLst>
            <a:outerShdw sx="100000" sy="100000" kx="0" ky="0" algn="bl" rotWithShape="0" blurRad="88900" dist="38100" dir="5400000">
              <a:srgbClr val="000000">
                <a:alpha val="13000"/>
              </a:srgbClr>
            </a:outerShdw>
          </a:effectLst>
        </p:spPr>
      </p:sp>
      <p:sp>
        <p:nvSpPr>
          <p:cNvPr id="7" name="Text 5"/>
          <p:cNvSpPr/>
          <p:nvPr/>
        </p:nvSpPr>
        <p:spPr>
          <a:xfrm>
            <a:off x="7909560" y="1965960"/>
            <a:ext cx="3429000" cy="320040"/>
          </a:xfrm>
          <a:prstGeom prst="rect">
            <a:avLst/>
          </a:prstGeom>
          <a:noFill/>
          <a:ln/>
        </p:spPr>
        <p:txBody>
          <a:bodyPr wrap="square" lIns="0" tIns="0" rIns="0" bIns="0" rtlCol="0" anchor="ctr"/>
          <a:lstStyle/>
          <a:p>
            <a:pPr indent="0" marL="0">
              <a:buNone/>
            </a:pPr>
            <a:r>
              <a:rPr lang="en-US" sz="1300" b="1" spc="200" kern="0" dirty="0">
                <a:solidFill>
                  <a:srgbClr val="5A6B72"/>
                </a:solidFill>
                <a:latin typeface="Arial" pitchFamily="34" charset="0"/>
                <a:ea typeface="Arial" pitchFamily="34" charset="-122"/>
                <a:cs typeface="Arial" pitchFamily="34" charset="-120"/>
              </a:rPr>
              <a:t>KEY LIMITATIONS</a:t>
            </a:r>
            <a:endParaRPr lang="en-US" sz="1300" dirty="0"/>
          </a:p>
        </p:txBody>
      </p:sp>
      <p:sp>
        <p:nvSpPr>
          <p:cNvPr id="8" name="Text 6"/>
          <p:cNvSpPr/>
          <p:nvPr/>
        </p:nvSpPr>
        <p:spPr>
          <a:xfrm>
            <a:off x="7909560" y="2331720"/>
            <a:ext cx="3429000" cy="3474720"/>
          </a:xfrm>
          <a:prstGeom prst="rect">
            <a:avLst/>
          </a:prstGeom>
          <a:noFill/>
          <a:ln/>
        </p:spPr>
        <p:txBody>
          <a:bodyPr wrap="square" lIns="0" tIns="0" rIns="0" bIns="0" rtlCol="0" anchor="t"/>
          <a:lstStyle/>
          <a:p>
            <a:pPr indent="0" marL="0">
              <a:lnSpc>
                <a:spcPct val="112000"/>
              </a:lnSpc>
              <a:spcAft>
                <a:spcPts val="700"/>
              </a:spcAft>
              <a:buNone/>
            </a:pPr>
            <a:r>
              <a:rPr lang="en-US" sz="1350" b="1" dirty="0">
                <a:solidFill>
                  <a:srgbClr val="12343B"/>
                </a:solidFill>
                <a:latin typeface="Arial" pitchFamily="34" charset="0"/>
                <a:ea typeface="Arial" pitchFamily="34" charset="-122"/>
                <a:cs typeface="Arial" pitchFamily="34" charset="-120"/>
              </a:rPr>
              <a:t>n = 71 </a:t>
            </a:r>
            <a:pPr indent="0" marL="0">
              <a:lnSpc>
                <a:spcPct val="112000"/>
              </a:lnSpc>
              <a:spcAft>
                <a:spcPts val="700"/>
              </a:spcAft>
              <a:buNone/>
            </a:pPr>
            <a:r>
              <a:rPr lang="en-US" sz="1350" dirty="0">
                <a:solidFill>
                  <a:srgbClr val="5A6B72"/>
                </a:solidFill>
                <a:latin typeface="Arial" pitchFamily="34" charset="0"/>
                <a:ea typeface="Arial" pitchFamily="34" charset="-122"/>
                <a:cs typeface="Arial" pitchFamily="34" charset="-120"/>
              </a:rPr>
              <a:t>— wide CIs; a +0.05 AUC value-add is not resolvable (and why no GNN).</a:t>
            </a:r>
            <a:pPr indent="0" marL="0">
              <a:lnSpc>
                <a:spcPct val="112000"/>
              </a:lnSpc>
              <a:spcAft>
                <a:spcPts val="700"/>
              </a:spcAft>
              <a:buNone/>
            </a:pPr>
            <a:endParaRPr lang="en-US" sz="1350" dirty="0"/>
          </a:p>
          <a:p>
            <a:pPr indent="0" marL="0">
              <a:lnSpc>
                <a:spcPct val="112000"/>
              </a:lnSpc>
              <a:spcAft>
                <a:spcPts val="700"/>
              </a:spcAft>
              <a:buNone/>
            </a:pPr>
            <a:r>
              <a:rPr lang="en-US" sz="1350" b="1" dirty="0">
                <a:solidFill>
                  <a:srgbClr val="12343B"/>
                </a:solidFill>
                <a:latin typeface="Arial" pitchFamily="34" charset="0"/>
                <a:ea typeface="Arial" pitchFamily="34" charset="-122"/>
                <a:cs typeface="Arial" pitchFamily="34" charset="-120"/>
              </a:rPr>
              <a:t>Sex = cohort </a:t>
            </a:r>
            <a:endParaRPr lang="en-US" sz="1350" dirty="0"/>
          </a:p>
          <a:p>
            <a:pPr indent="0" marL="0">
              <a:lnSpc>
                <a:spcPct val="112000"/>
              </a:lnSpc>
              <a:spcAft>
                <a:spcPts val="700"/>
              </a:spcAft>
              <a:buNone/>
            </a:pPr>
            <a:r>
              <a:rPr lang="en-US" sz="1350" dirty="0">
                <a:solidFill>
                  <a:srgbClr val="5A6B72"/>
                </a:solidFill>
                <a:latin typeface="Arial" pitchFamily="34" charset="0"/>
                <a:ea typeface="Arial" pitchFamily="34" charset="-122"/>
                <a:cs typeface="Arial" pitchFamily="34" charset="-120"/>
              </a:rPr>
              <a:t>— no clean cross-sex test; within-sex value-add instead.</a:t>
            </a:r>
            <a:pPr indent="0" marL="0">
              <a:lnSpc>
                <a:spcPct val="112000"/>
              </a:lnSpc>
              <a:spcAft>
                <a:spcPts val="700"/>
              </a:spcAft>
              <a:buNone/>
            </a:pPr>
            <a:endParaRPr lang="en-US" sz="1350" dirty="0"/>
          </a:p>
          <a:p>
            <a:pPr indent="0" marL="0">
              <a:lnSpc>
                <a:spcPct val="112000"/>
              </a:lnSpc>
              <a:spcAft>
                <a:spcPts val="700"/>
              </a:spcAft>
              <a:buNone/>
            </a:pPr>
            <a:r>
              <a:rPr lang="en-US" sz="1350" b="1" dirty="0">
                <a:solidFill>
                  <a:srgbClr val="12343B"/>
                </a:solidFill>
                <a:latin typeface="Arial" pitchFamily="34" charset="0"/>
                <a:ea typeface="Arial" pitchFamily="34" charset="-122"/>
                <a:cs typeface="Arial" pitchFamily="34" charset="-120"/>
              </a:rPr>
              <a:t>Factor 4 ≠ pure microglia </a:t>
            </a:r>
            <a:endParaRPr lang="en-US" sz="1350" dirty="0"/>
          </a:p>
          <a:p>
            <a:pPr indent="0" marL="0">
              <a:lnSpc>
                <a:spcPct val="112000"/>
              </a:lnSpc>
              <a:spcAft>
                <a:spcPts val="700"/>
              </a:spcAft>
              <a:buNone/>
            </a:pPr>
            <a:r>
              <a:rPr lang="en-US" sz="1350" dirty="0">
                <a:solidFill>
                  <a:srgbClr val="5A6B72"/>
                </a:solidFill>
                <a:latin typeface="Arial" pitchFamily="34" charset="0"/>
                <a:ea typeface="Arial" pitchFamily="34" charset="-122"/>
                <a:cs typeface="Arial" pitchFamily="34" charset="-120"/>
              </a:rPr>
              <a:t>— top sender is Endothelial (0.79); vascular + immune → neuron.</a:t>
            </a:r>
            <a:pPr indent="0" marL="0">
              <a:lnSpc>
                <a:spcPct val="112000"/>
              </a:lnSpc>
              <a:spcAft>
                <a:spcPts val="700"/>
              </a:spcAft>
              <a:buNone/>
            </a:pPr>
            <a:endParaRPr lang="en-US" sz="1350" dirty="0"/>
          </a:p>
          <a:p>
            <a:pPr indent="0" marL="0">
              <a:lnSpc>
                <a:spcPct val="112000"/>
              </a:lnSpc>
              <a:spcAft>
                <a:spcPts val="700"/>
              </a:spcAft>
              <a:buNone/>
            </a:pPr>
            <a:r>
              <a:rPr lang="en-US" sz="1350" b="1" dirty="0">
                <a:solidFill>
                  <a:srgbClr val="12343B"/>
                </a:solidFill>
                <a:latin typeface="Arial" pitchFamily="34" charset="0"/>
                <a:ea typeface="Arial" pitchFamily="34" charset="-122"/>
                <a:cs typeface="Arial" pitchFamily="34" charset="-120"/>
              </a:rPr>
              <a:t>Trend-level </a:t>
            </a:r>
            <a:endParaRPr lang="en-US" sz="1350" dirty="0"/>
          </a:p>
          <a:p>
            <a:pPr indent="0" marL="0">
              <a:lnSpc>
                <a:spcPct val="112000"/>
              </a:lnSpc>
              <a:spcAft>
                <a:spcPts val="700"/>
              </a:spcAft>
              <a:buNone/>
            </a:pPr>
            <a:r>
              <a:rPr lang="en-US" sz="1350" dirty="0">
                <a:solidFill>
                  <a:srgbClr val="5A6B72"/>
                </a:solidFill>
                <a:latin typeface="Arial" pitchFamily="34" charset="0"/>
                <a:ea typeface="Arial" pitchFamily="34" charset="-122"/>
                <a:cs typeface="Arial" pitchFamily="34" charset="-120"/>
              </a:rPr>
              <a:t>— p = 0.057 overall, p = 0.05 in males (borderline).</a:t>
            </a:r>
            <a:endParaRPr lang="en-US" sz="1350" dirty="0"/>
          </a:p>
        </p:txBody>
      </p:sp>
      <p:sp>
        <p:nvSpPr>
          <p:cNvPr id="9" name="Text 7"/>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100" dirty="0">
                <a:solidFill>
                  <a:srgbClr val="5A6B72"/>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5563"/>
        </a:solidFill>
      </p:bgPr>
    </p:bg>
    <p:spTree>
      <p:nvGrpSpPr>
        <p:cNvPr id="1" name=""/>
        <p:cNvGrpSpPr/>
        <p:nvPr/>
      </p:nvGrpSpPr>
      <p:grpSpPr>
        <a:xfrm>
          <a:off x="0" y="0"/>
          <a:ext cx="0" cy="0"/>
          <a:chOff x="0" y="0"/>
          <a:chExt cx="0" cy="0"/>
        </a:xfrm>
      </p:grpSpPr>
      <p:sp>
        <p:nvSpPr>
          <p:cNvPr id="2" name="Shape 0"/>
          <p:cNvSpPr/>
          <p:nvPr/>
        </p:nvSpPr>
        <p:spPr>
          <a:xfrm>
            <a:off x="-1463040" y="3657600"/>
            <a:ext cx="4572000" cy="4572000"/>
          </a:xfrm>
          <a:prstGeom prst="ellipse">
            <a:avLst/>
          </a:prstGeom>
          <a:solidFill>
            <a:srgbClr val="0E7C86">
              <a:alpha val="20000"/>
            </a:srgbClr>
          </a:solidFill>
          <a:ln/>
        </p:spPr>
        <p:txBody>
          <a:bodyPr/>
          <a:p/>
        </p:txBody>
      </p:sp>
      <p:sp>
        <p:nvSpPr>
          <p:cNvPr id="3" name="Shape 1"/>
          <p:cNvSpPr/>
          <p:nvPr/>
        </p:nvSpPr>
        <p:spPr>
          <a:xfrm>
            <a:off x="9875520" y="-1463040"/>
            <a:ext cx="4023360" cy="4023360"/>
          </a:xfrm>
          <a:prstGeom prst="ellipse">
            <a:avLst/>
          </a:prstGeom>
          <a:solidFill>
            <a:srgbClr val="C0392B">
              <a:alpha val="16000"/>
            </a:srgbClr>
          </a:solidFill>
          <a:ln/>
        </p:spPr>
        <p:txBody>
          <a:bodyPr/>
          <a:p/>
        </p:txBody>
      </p:sp>
      <p:sp>
        <p:nvSpPr>
          <p:cNvPr id="4" name="Text 2"/>
          <p:cNvSpPr/>
          <p:nvPr/>
        </p:nvSpPr>
        <p:spPr>
          <a:xfrm>
            <a:off x="0" y="2286000"/>
            <a:ext cx="12188952"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0" y="3429000"/>
            <a:ext cx="12188952" cy="548640"/>
          </a:xfrm>
          <a:prstGeom prst="rect">
            <a:avLst/>
          </a:prstGeom>
          <a:noFill/>
          <a:ln/>
        </p:spPr>
        <p:txBody>
          <a:bodyPr wrap="square" lIns="0" tIns="0" rIns="0" bIns="0" rtlCol="0" anchor="ctr"/>
          <a:lstStyle/>
          <a:p>
            <a:pPr algn="ctr" indent="0" marL="0">
              <a:buNone/>
            </a:pPr>
            <a:r>
              <a:rPr lang="en-US" sz="2200" dirty="0">
                <a:solidFill>
                  <a:srgbClr val="5FB0B7"/>
                </a:solidFill>
                <a:latin typeface="Arial" pitchFamily="34" charset="0"/>
                <a:ea typeface="Arial" pitchFamily="34" charset="-122"/>
                <a:cs typeface="Arial" pitchFamily="34" charset="-120"/>
              </a:rPr>
              <a:t>Questions?</a:t>
            </a:r>
            <a:endParaRPr lang="en-US" sz="2200" dirty="0"/>
          </a:p>
        </p:txBody>
      </p:sp>
      <p:sp>
        <p:nvSpPr>
          <p:cNvPr id="6" name="Text 4"/>
          <p:cNvSpPr/>
          <p:nvPr/>
        </p:nvSpPr>
        <p:spPr>
          <a:xfrm>
            <a:off x="0" y="4297680"/>
            <a:ext cx="12188952" cy="365760"/>
          </a:xfrm>
          <a:prstGeom prst="rect">
            <a:avLst/>
          </a:prstGeom>
          <a:noFill/>
          <a:ln/>
        </p:spPr>
        <p:txBody>
          <a:bodyPr wrap="square" lIns="0" tIns="0" rIns="0" bIns="0" rtlCol="0" anchor="ctr"/>
          <a:lstStyle/>
          <a:p>
            <a:pPr algn="ctr" indent="0" marL="0">
              <a:buNone/>
            </a:pPr>
            <a:r>
              <a:rPr lang="en-US" sz="1300" i="1" dirty="0">
                <a:solidFill>
                  <a:srgbClr val="9FC4C8"/>
                </a:solidFill>
                <a:latin typeface="Arial" pitchFamily="34" charset="0"/>
                <a:ea typeface="Arial" pitchFamily="34" charset="-122"/>
                <a:cs typeface="Arial" pitchFamily="34" charset="-120"/>
              </a:rPr>
              <a:t>Giorgos Boulogeorgos  ·  Andreas Mici    |    MLCB Team Project · NKUA, MSc Data Science and Information Technologies  ·  Supervisor: Prof. E. Manolakos  ·  June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Communication-Aware ML for MDD</dc:title>
  <dc:subject>PptxGenJS Presentation</dc:subject>
  <dc:creator>MLCB Team Project</dc:creator>
  <cp:lastModifiedBy>MLCB Team Project</cp:lastModifiedBy>
  <cp:revision>1</cp:revision>
  <dcterms:created xsi:type="dcterms:W3CDTF">2026-06-30T12:41:36Z</dcterms:created>
  <dcterms:modified xsi:type="dcterms:W3CDTF">2026-06-30T12:41:36Z</dcterms:modified>
</cp:coreProperties>
</file>